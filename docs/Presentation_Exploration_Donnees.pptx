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230"/>
                </a:solidFill>
                <a:latin typeface="Calibri"/>
              </a:defRPr>
            </a:pPr>
            <a:r>
              <a:rPr sz="1400" b="0" i="0" u="none" strike="noStrike">
                <a:solidFill>
                  <a:srgbClr val="1A2230"/>
                </a:solidFill>
                <a:latin typeface="Calibri"/>
              </a:rPr>
              <a:t>Patients par centre (12 plus grands + le reste)</a:t>
            </a:r>
          </a:p>
        </c:rich>
      </c:tx>
      <c:layout/>
      <c:overlay val="0"/>
    </c:title>
    <c:autoTitleDeleted val="0"/>
    <c:plotArea>
      <c:layout/>
      <c:barChart>
        <c:barDir val="bar"/>
        <c:grouping val="clustered"/>
        <c:varyColors val="0"/>
        <c:ser>
          <c:idx val="0"/>
          <c:order val="0"/>
          <c:tx>
            <c:strRef>
              <c:f>Sheet1!$B$1</c:f>
              <c:strCache>
                <c:ptCount val="1"/>
                <c:pt idx="0">
                  <c:v>Patients</c:v>
                </c:pt>
              </c:strCache>
            </c:strRef>
          </c:tx>
          <c:spPr>
            <a:solidFill>
              <a:srgbClr val="2A78D6"/>
            </a:solidFill>
            <a:effectLst/>
          </c:spPr>
          <c:invertIfNegative val="0"/>
          <c:dLbls>
            <c:numFmt formatCode="#,##0" sourceLinked="0"/>
            <c:txPr>
              <a:bodyPr/>
              <a:lstStyle/>
              <a:p>
                <a:pPr>
                  <a:defRPr b="0" i="0" strike="noStrike" sz="1100" u="none">
                    <a:solidFill>
                      <a:srgbClr val="4A5566"/>
                    </a:solidFill>
                    <a:latin typeface="Calibri"/>
                  </a:defRPr>
                </a:pPr>
              </a:p>
            </c:txPr>
            <c:showLegendKey val="0"/>
            <c:showVal val="1"/>
            <c:showCatName val="0"/>
            <c:showSerName val="0"/>
            <c:showPercent val="0"/>
            <c:showBubbleSize val="0"/>
            <c:showLeaderLines val="0"/>
          </c:dLbls>
          <c:cat>
            <c:multiLvlStrRef>
              <c:f>Sheet1!$A$2:$A$14</c:f>
              <c:multiLvlStrCache>
                <c:ptCount val="13"/>
                <c:lvl>
                  <c:pt idx="0">
                    <c:v>SOOP</c:v>
                  </c:pt>
                  <c:pt idx="1">
                    <c:v>R009</c:v>
                  </c:pt>
                  <c:pt idx="2">
                    <c:v>R038</c:v>
                  </c:pt>
                  <c:pt idx="3">
                    <c:v>R040</c:v>
                  </c:pt>
                  <c:pt idx="4">
                    <c:v>R047</c:v>
                  </c:pt>
                  <c:pt idx="5">
                    <c:v>R048</c:v>
                  </c:pt>
                  <c:pt idx="6">
                    <c:v>R069</c:v>
                  </c:pt>
                  <c:pt idx="7">
                    <c:v>R001</c:v>
                  </c:pt>
                  <c:pt idx="8">
                    <c:v>R059</c:v>
                  </c:pt>
                  <c:pt idx="9">
                    <c:v>R004</c:v>
                  </c:pt>
                  <c:pt idx="10">
                    <c:v>R031</c:v>
                  </c:pt>
                  <c:pt idx="11">
                    <c:v>R005</c:v>
                  </c:pt>
                  <c:pt idx="12">
                    <c:v>43 autres centres</c:v>
                  </c:pt>
                </c:lvl>
              </c:multiLvlStrCache>
            </c:multiLvlStrRef>
          </c:cat>
          <c:val>
            <c:numRef>
              <c:f>Sheet1!$B$2:$B$14</c:f>
              <c:numCache>
                <c:formatCode>General</c:formatCode>
                <c:ptCount val="13"/>
                <c:pt idx="0">
                  <c:v>169</c:v>
                </c:pt>
                <c:pt idx="1">
                  <c:v>111</c:v>
                </c:pt>
                <c:pt idx="2">
                  <c:v>94</c:v>
                </c:pt>
                <c:pt idx="3">
                  <c:v>86</c:v>
                </c:pt>
                <c:pt idx="4">
                  <c:v>48</c:v>
                </c:pt>
                <c:pt idx="5">
                  <c:v>44</c:v>
                </c:pt>
                <c:pt idx="6">
                  <c:v>40</c:v>
                </c:pt>
                <c:pt idx="7">
                  <c:v>39</c:v>
                </c:pt>
                <c:pt idx="8">
                  <c:v>38</c:v>
                </c:pt>
                <c:pt idx="9">
                  <c:v>37</c:v>
                </c:pt>
                <c:pt idx="10">
                  <c:v>37</c:v>
                </c:pt>
                <c:pt idx="11">
                  <c:v>37</c:v>
                </c:pt>
                <c:pt idx="12">
                  <c:v>673</c:v>
                </c:pt>
              </c:numCache>
            </c:numRef>
          </c:val>
        </c:ser>
        <c:dLbls>
          <c:numFmt formatCode="#,##0" sourceLinked="0"/>
          <c:txPr>
            <a:bodyPr/>
            <a:lstStyle/>
            <a:p>
              <a:pPr>
                <a:defRPr b="0" i="0" strike="noStrike" sz="1100" u="none">
                  <a:solidFill>
                    <a:srgbClr val="4A5566"/>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4A5566"/>
                </a:solidFill>
                <a:latin typeface="Calibri"/>
              </a:defRPr>
            </a:pPr>
            <a:endParaRPr lang="en-US"/>
          </a:p>
        </c:txPr>
        <c:crossAx val="2094734552"/>
        <c:crosses val="autoZero"/>
        <c:auto val="1"/>
        <c:lblAlgn val="ctr"/>
        <c:noMultiLvlLbl val="1"/>
      </c:catAx>
      <c:valAx>
        <c:axId val="2094734552"/>
        <c:scaling>
          <c:orientation val="minMax"/>
          <c:max val="7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230"/>
                </a:solidFill>
                <a:latin typeface="Calibri"/>
              </a:defRPr>
            </a:pPr>
            <a:r>
              <a:rPr sz="1400" b="0" i="0" u="none" strike="noStrike">
                <a:solidFill>
                  <a:srgbClr val="1A2230"/>
                </a:solidFill>
                <a:latin typeface="Calibri"/>
              </a:rPr>
              <a:t>Peut-on deviner le centre d'un scan ? (exactitude équilibrée)</a:t>
            </a:r>
          </a:p>
        </c:rich>
      </c:tx>
      <c:layout/>
      <c:overlay val="0"/>
    </c:title>
    <c:autoTitleDeleted val="0"/>
    <c:plotArea>
      <c:layout/>
      <c:barChart>
        <c:barDir val="bar"/>
        <c:grouping val="clustered"/>
        <c:varyColors val="0"/>
        <c:ser>
          <c:idx val="0"/>
          <c:order val="0"/>
          <c:tx>
            <c:strRef>
              <c:f>Sheet1!$B$1</c:f>
              <c:strCache>
                <c:ptCount val="1"/>
                <c:pt idx="0">
                  <c:v>Exactitude équilibrée (%)</c:v>
                </c:pt>
              </c:strCache>
            </c:strRef>
          </c:tx>
          <c:spPr>
            <a:solidFill>
              <a:srgbClr val="B8BEC8"/>
            </a:solidFill>
            <a:effectLst/>
          </c:spPr>
          <c:invertIfNegative val="0"/>
          <c:dLbls>
            <c:numFmt formatCode="0.0&quot; %&quot;" sourceLinked="0"/>
            <c:txPr>
              <a:bodyPr/>
              <a:lstStyle/>
              <a:p>
                <a:pPr>
                  <a:defRPr b="1" i="0" strike="noStrike" sz="1300" u="none">
                    <a:solidFill>
                      <a:srgbClr val="1A2230"/>
                    </a:solidFill>
                    <a:latin typeface="Calibri"/>
                  </a:defRPr>
                </a:pPr>
              </a:p>
            </c:txPr>
            <c:showLegendKey val="0"/>
            <c:showVal val="1"/>
            <c:showCatName val="0"/>
            <c:showSerName val="0"/>
            <c:showPercent val="0"/>
            <c:showBubbleSize val="0"/>
            <c:showLeaderLines val="0"/>
          </c:dLbls>
          <c:dPt>
            <c:idx val="0"/>
            <c:invertIfNegative val="0"/>
            <c:bubble3D val="0"/>
            <c:spPr>
              <a:solidFill>
                <a:srgbClr val="B8BEC8"/>
              </a:solidFill>
              <a:effectLst/>
            </c:spPr>
          </c:dPt>
          <c:dPt>
            <c:idx val="1"/>
            <c:invertIfNegative val="0"/>
            <c:bubble3D val="0"/>
            <c:spPr>
              <a:solidFill>
                <a:srgbClr val="2A78D6"/>
              </a:solidFill>
              <a:effectLst/>
            </c:spPr>
          </c:dPt>
          <c:dPt>
            <c:idx val="2"/>
            <c:invertIfNegative val="0"/>
            <c:bubble3D val="0"/>
            <c:spPr>
              <a:solidFill>
                <a:srgbClr val="EB6834"/>
              </a:solidFill>
              <a:effectLst/>
            </c:spPr>
          </c:dPt>
          <c:dPt>
            <c:idx val="3"/>
            <c:invertIfNegative val="0"/>
            <c:bubble3D val="0"/>
            <c:spPr>
              <a:solidFill>
                <a:srgbClr val="2A78D6"/>
              </a:solidFill>
              <a:effectLst/>
            </c:spPr>
          </c:dPt>
          <c:cat>
            <c:multiLvlStrRef>
              <c:f>Sheet1!$A$2:$A$5</c:f>
              <c:multiLvlStrCache>
                <c:ptCount val="4"/>
                <c:lvl>
                  <c:pt idx="0">
                    <c:v>Hasard (26 centres)</c:v>
                  </c:pt>
                  <c:pt idx="1">
                    <c:v>Échelle d'intensité brute</c:v>
                  </c:pt>
                  <c:pt idx="2">
                    <c:v>Forme de l'histogramme (normalisé)</c:v>
                  </c:pt>
                  <c:pt idx="3">
                    <c:v>Géométrie (voxel, matrice, orientation)</c:v>
                  </c:pt>
                </c:lvl>
              </c:multiLvlStrCache>
            </c:multiLvlStrRef>
          </c:cat>
          <c:val>
            <c:numRef>
              <c:f>Sheet1!$B$2:$B$5</c:f>
              <c:numCache>
                <c:formatCode>General</c:formatCode>
                <c:ptCount val="4"/>
                <c:pt idx="0">
                  <c:v>3.8</c:v>
                </c:pt>
                <c:pt idx="1">
                  <c:v>66.6</c:v>
                </c:pt>
                <c:pt idx="2">
                  <c:v>68.3</c:v>
                </c:pt>
                <c:pt idx="3">
                  <c:v>86.8</c:v>
                </c:pt>
              </c:numCache>
            </c:numRef>
          </c:val>
        </c:ser>
        <c:dLbls>
          <c:numFmt formatCode="0.0&quot; %&quot;" sourceLinked="0"/>
          <c:txPr>
            <a:bodyPr/>
            <a:lstStyle/>
            <a:p>
              <a:pPr>
                <a:defRPr b="1" i="0" strike="noStrike" sz="1300" u="none">
                  <a:solidFill>
                    <a:srgbClr val="1A2230"/>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4A5566"/>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présentation couvre les semaines 1 et 2 du projet : l'accès aux données, leur exploration et le contrôle qualité. L'objectif était de comprendre le jeu de données avant de construire le pipeline Spark et d'entraîner les modèles. Tous les chiffres viennent des 1 453 scans, calculés par nos scripts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patient a trois fichiers. L'IRM T1 est une grille 3D de voxels (par exemple 176 × 256 × 256), chaque voxel contient une intensité ; le crâne a déjà été retiré, donc le fond vaut 0. Le masque a la même grille : 1 = lésion, 0 = tissu sain ; c'est la vérité terrain dessinée par des experts, ce que le modèle doit prédire. Le fichier metadata donne le centre (SITE), le délai depuis l'AVC et la version du jeu. 955 cas viennent d'ATLAS v2.0, 498 sont nouveaux dans cette version, dont tout le centre SOOP.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fichier téléchargé était chiffré : NITRC envoie un mot de passe après la signature de l'accord d'utilisation. On l'a déchiffré et extrait directement, sans copie intermédiaire. Ensuite un script lit chaque patient en parallèle sur 12 cœurs et calcule une soixantaine de mesures par scan. Les très gros scans de SOOP (jusqu'à 354 millions de voxels) sont traités un par un pour ne pas saturer la mémoire. Un second script applique des règles de contrôle qualité, un troisième produit les figures, et un dernier teste si l'on peut reconnaître le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clé pour le projet : on découpe par centre, pas par patient. Or la taille des centres varie de 1 à 169 patients. Seuls 26 centres ont au moins 20 patients ; ils représentent 81 % des scans. Les 43 plus petits centres totalisent 673 patients. SOOP est le plus grand centre, il est entièrement nouveau dans la version 3 : c'est un bon candidat comme centre de test hors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patient par grand centre, coupe axiale où la lésion est la plus grande, lésion entourée en orange. On voit à l'œil nu le domain shift : contraste, bruit, netteté et résolution changent d'un centre à l'autre. SOOP a des voxels de 0,5 × 0,25 × 0,25 mm, alors que la plupart des centres sont à 1 mm. Les scans sont stockés dans des orientations différentes, et l'échelle d'intensité brute va d'environ 30 (R029) à 1,5 million (R042). D'où les étapes de réorientation, rééchantillonnage et normalisation du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comparer les centres malgré les échelles différentes, chaque scan est divisé par son 99e percentile. Si les centres étaient homogènes, toutes les courbes bleues suivraient la courbe grise. Ce n'est pas le cas : certains centres ont un contraste différent, d'autres n'ont qu'une trentaine de niveaux de gris. Une simple mise à l'échelle ne suffit donc pas à supprimer les différences entre centres.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une première version du « test de l'empreinte du centre » du document (section 5.5), avec des mesures simples plutôt qu'un réseau. On entraîne une forêt aléatoire à deviner le centre parmi 26. Au hasard, on aurait 3,8 %. Avec uniquement la forme de l'histogramme, déjà normalisée, on reconnaît le centre dans 68 % des cas ; avec la taille des voxels et l'orientation, 87 %. Le domain shift est donc réel et mesurable. Après les techniques de généralisation, on refera ce test : si le centre n'est plus reconnaissable, on explique pourquoi la technique marche.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volume des lésions s'étend sur plus de quatre ordres de grandeur, de quelques voxels à près de 400 mL. La moitié des lésions font moins de 5,4 mL. Pour les très petites lésions, une erreur de quelques voxels fait chuter le Dice : il faudra stratifier les résultats par taille et utiliser aussi le F1 par lésion. Le stade (aigu ≤ 7 jours, subaigu 8–180 jours, chronique &gt; 180 jours) est calculé à partir du délai : 92 aigus, 371 subaigus, 649 chroniques et 341 inconnus. La plupart des cas sont chroniques.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règles automatiques ont trouvé des problèmes concrets. À gauche un cerveau normal ; au milieu R032 affiché avec l'espacement indiqué dans son en-tête : le cerveau mesure 31 cm d'avant en arrière et 2,7 litres, ce qui est impossible ; l'en-tête est donc faux, et un rééchantillonnage à 1 mm produirait des cerveaux étirés. À droite, R029 : le fond vaut 0,0007 au lieu de 0, donc le masque naïf « intensité &gt; 0 » sélectionne toute l'image et fausserait la normalisation z-score. On a corrigé nos calculs en utilisant la valeur de fond réelle. Le document annonçait des masques pour tous les sujets : 5 sont vides.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confrontant le document du projet aux fichiers réels, on trouve quelques différences qu'il faut connaître avant d'écrire le pipeline. La plus importante : CHRONICITY n'est pas un stade mais un simple drapeau. Là où le délai est connu, 1 correspond à plus de 6 mois ; pourtant tous les patients SOOP sont marqués 1 sans délai, alors que SOOP est décrit comme une cohorte d'AVC aigus. Il faut vérifier sur la page du challenge. On calculera donc le stade à partir du délai.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messages : le domain shift entre centres est réel et mesurable avant même d'entraîner un modèle ; les données sont très hétérogènes et déséquilibrées, ce qui guide le découpage par centre ; et le contrôle qualité a trouvé des problèmes qu'il faut régler avant l'entraînement. La suite : le pipeline Spark de prétraitement, les découpages par centre, puis la baseline nnU-Net.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pic>
        <p:nvPicPr>
          <p:cNvPr id="2" name="Image 0" descr="Coupe axiale d'IRM T1 avec la lésion d'AVC superposée en orange">    </p:cNvPr>
          <p:cNvPicPr>
            <a:picLocks noChangeAspect="1"/>
          </p:cNvPicPr>
          <p:nvPr/>
        </p:nvPicPr>
        <p:blipFill>
          <a:blip r:embed="rId1"/>
          <a:stretch>
            <a:fillRect/>
          </a:stretch>
        </p:blipFill>
        <p:spPr>
          <a:xfrm>
            <a:off x="7680960" y="868680"/>
            <a:ext cx="3931920" cy="4954219"/>
          </a:xfrm>
          <a:prstGeom prst="rect">
            <a:avLst/>
          </a:prstGeom>
        </p:spPr>
      </p:pic>
      <p:sp>
        <p:nvSpPr>
          <p:cNvPr id="3" name="Text 0"/>
          <p:cNvSpPr txBox="1"/>
          <p:nvPr/>
        </p:nvSpPr>
        <p:spPr>
          <a:xfrm>
            <a:off x="640080" y="1417320"/>
            <a:ext cx="6766560" cy="365760"/>
          </a:xfrm>
          <a:prstGeom prst="rect">
            <a:avLst/>
          </a:prstGeom>
          <a:noFill/>
          <a:ln/>
        </p:spPr>
        <p:txBody>
          <a:bodyPr wrap="square" lIns="0" tIns="0" rIns="0" bIns="0" rtlCol="0" anchor="ctr"/>
          <a:lstStyle/>
          <a:p>
            <a:pPr indent="0" marL="0">
              <a:buNone/>
            </a:pPr>
            <a:r>
              <a:rPr lang="en-US" sz="1300" b="1" spc="150" kern="0" dirty="0">
                <a:solidFill>
                  <a:srgbClr val="EB6834"/>
                </a:solidFill>
                <a:latin typeface="Calibri" pitchFamily="34" charset="0"/>
                <a:ea typeface="Calibri" pitchFamily="34" charset="-122"/>
                <a:cs typeface="Calibri" pitchFamily="34" charset="-120"/>
              </a:rPr>
              <a:t>PROJET 6 · SEGMENTATION DES LÉSIONS D'AVC SUR IRM</a:t>
            </a:r>
            <a:endParaRPr lang="en-US" sz="1300" dirty="0"/>
          </a:p>
        </p:txBody>
      </p:sp>
      <p:sp>
        <p:nvSpPr>
          <p:cNvPr id="4" name="Text 1"/>
          <p:cNvSpPr txBox="1"/>
          <p:nvPr/>
        </p:nvSpPr>
        <p:spPr>
          <a:xfrm>
            <a:off x="640080" y="1874520"/>
            <a:ext cx="6766560"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Exploration du jeu de données ISLES'26 / ATLAS v3</a:t>
            </a:r>
            <a:endParaRPr lang="en-US" sz="4000" dirty="0"/>
          </a:p>
        </p:txBody>
      </p:sp>
      <p:sp>
        <p:nvSpPr>
          <p:cNvPr id="5" name="Text 2"/>
          <p:cNvSpPr txBox="1"/>
          <p:nvPr/>
        </p:nvSpPr>
        <p:spPr>
          <a:xfrm>
            <a:off x="640080" y="3703320"/>
            <a:ext cx="6583680" cy="822960"/>
          </a:xfrm>
          <a:prstGeom prst="rect">
            <a:avLst/>
          </a:prstGeom>
          <a:noFill/>
          <a:ln/>
        </p:spPr>
        <p:txBody>
          <a:bodyPr wrap="square" lIns="0" tIns="0" rIns="0" bIns="0" rtlCol="0" anchor="t"/>
          <a:lstStyle/>
          <a:p>
            <a:pPr indent="0" marL="0">
              <a:buNone/>
            </a:pPr>
            <a:r>
              <a:rPr lang="en-US" sz="2000" dirty="0">
                <a:solidFill>
                  <a:srgbClr val="C9D1DE"/>
                </a:solidFill>
                <a:latin typeface="Calibri" pitchFamily="34" charset="0"/>
                <a:ea typeface="Calibri" pitchFamily="34" charset="-122"/>
                <a:cs typeface="Calibri" pitchFamily="34" charset="-120"/>
              </a:rPr>
              <a:t>Semaines 1–2 : inventaire, statistiques par centre et contrôle qualité</a:t>
            </a:r>
            <a:endParaRPr lang="en-US" sz="2000" dirty="0"/>
          </a:p>
        </p:txBody>
      </p:sp>
      <p:sp>
        <p:nvSpPr>
          <p:cNvPr id="6" name="Text 3"/>
          <p:cNvSpPr txBox="1"/>
          <p:nvPr/>
        </p:nvSpPr>
        <p:spPr>
          <a:xfrm>
            <a:off x="640080" y="5394960"/>
            <a:ext cx="6583680" cy="365760"/>
          </a:xfrm>
          <a:prstGeom prst="rect">
            <a:avLst/>
          </a:prstGeom>
          <a:noFill/>
          <a:ln/>
        </p:spPr>
        <p:txBody>
          <a:bodyPr wrap="square" lIns="0" tIns="0" rIns="0" bIns="0" rtlCol="0" anchor="ctr"/>
          <a:lstStyle/>
          <a:p>
            <a:pPr indent="0" marL="0">
              <a:buNone/>
            </a:pPr>
            <a:r>
              <a:rPr lang="en-US" sz="1400" dirty="0">
                <a:solidFill>
                  <a:srgbClr val="7C8595"/>
                </a:solidFill>
                <a:latin typeface="Calibri" pitchFamily="34" charset="0"/>
                <a:ea typeface="Calibri" pitchFamily="34" charset="-122"/>
                <a:cs typeface="Calibri" pitchFamily="34" charset="-120"/>
              </a:rPr>
              <a:t>1 453 IRM T1 · 55 centres · données brutes (« Raw Data »)</a:t>
            </a:r>
            <a:endParaRPr lang="en-US" sz="1400" dirty="0"/>
          </a:p>
        </p:txBody>
      </p:sp>
      <p:sp>
        <p:nvSpPr>
          <p:cNvPr id="7" name="Text 4"/>
          <p:cNvSpPr txBox="1"/>
          <p:nvPr/>
        </p:nvSpPr>
        <p:spPr>
          <a:xfrm>
            <a:off x="7680960" y="6035040"/>
            <a:ext cx="3931920" cy="274320"/>
          </a:xfrm>
          <a:prstGeom prst="rect">
            <a:avLst/>
          </a:prstGeom>
          <a:noFill/>
          <a:ln/>
        </p:spPr>
        <p:txBody>
          <a:bodyPr wrap="square" lIns="0" tIns="0" rIns="0" bIns="0" rtlCol="0" anchor="ctr"/>
          <a:lstStyle/>
          <a:p>
            <a:pPr algn="ctr" indent="0" marL="0">
              <a:buNone/>
            </a:pPr>
            <a:r>
              <a:rPr lang="en-US" sz="1100" dirty="0">
                <a:solidFill>
                  <a:srgbClr val="7C8595"/>
                </a:solidFill>
                <a:latin typeface="Calibri" pitchFamily="34" charset="0"/>
                <a:ea typeface="Calibri" pitchFamily="34" charset="-122"/>
                <a:cs typeface="Calibri" pitchFamily="34" charset="-120"/>
              </a:rPr>
              <a:t>Lésion superposée en orange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9768"/>
            <a:ext cx="457200" cy="457200"/>
          </a:xfrm>
          <a:prstGeom prst="ellipse">
            <a:avLst/>
          </a:prstGeom>
          <a:solidFill>
            <a:srgbClr val="EB6834"/>
          </a:solidFill>
          <a:ln w="12700">
            <a:solidFill>
              <a:srgbClr val="EB6834"/>
            </a:solidFill>
            <a:prstDash val="solid"/>
          </a:ln>
        </p:spPr>
      </p:sp>
      <p:sp>
        <p:nvSpPr>
          <p:cNvPr id="3" name="Text 1"/>
          <p:cNvSpPr txBox="1"/>
          <p:nvPr/>
        </p:nvSpPr>
        <p:spPr>
          <a:xfrm>
            <a:off x="548640" y="4297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4" name="Text 2"/>
          <p:cNvSpPr txBox="1"/>
          <p:nvPr/>
        </p:nvSpPr>
        <p:spPr>
          <a:xfrm>
            <a:off x="1188720" y="310896"/>
            <a:ext cx="10454335" cy="694944"/>
          </a:xfrm>
          <a:prstGeom prst="rect">
            <a:avLst/>
          </a:prstGeom>
          <a:noFill/>
          <a:ln/>
        </p:spPr>
        <p:txBody>
          <a:bodyPr wrap="square" lIns="0" tIns="0" rIns="0" bIns="0" rtlCol="0" anchor="ctr"/>
          <a:lstStyle/>
          <a:p>
            <a:pPr indent="0" marL="0">
              <a:buNone/>
            </a:pPr>
            <a:r>
              <a:rPr lang="en-US" sz="3000" b="1" dirty="0">
                <a:solidFill>
                  <a:srgbClr val="1A2230"/>
                </a:solidFill>
                <a:latin typeface="Calibri" pitchFamily="34" charset="0"/>
                <a:ea typeface="Calibri" pitchFamily="34" charset="-122"/>
                <a:cs typeface="Calibri" pitchFamily="34" charset="-120"/>
              </a:rPr>
              <a:t>Le jeu de données en bref</a:t>
            </a:r>
            <a:endParaRPr lang="en-US" sz="3000" dirty="0"/>
          </a:p>
        </p:txBody>
      </p:sp>
      <p:sp>
        <p:nvSpPr>
          <p:cNvPr id="5" name="Text 3"/>
          <p:cNvSpPr txBox="1"/>
          <p:nvPr/>
        </p:nvSpPr>
        <p:spPr>
          <a:xfrm>
            <a:off x="548640" y="1325880"/>
            <a:ext cx="2468880" cy="633046"/>
          </a:xfrm>
          <a:prstGeom prst="rect">
            <a:avLst/>
          </a:prstGeom>
          <a:noFill/>
          <a:ln/>
        </p:spPr>
        <p:txBody>
          <a:bodyPr wrap="square" lIns="0" tIns="0" rIns="0" bIns="0" rtlCol="0" anchor="b"/>
          <a:lstStyle/>
          <a:p>
            <a:pPr indent="0" marL="0">
              <a:buNone/>
            </a:pPr>
            <a:r>
              <a:rPr lang="en-US" sz="3600" b="1" dirty="0">
                <a:solidFill>
                  <a:srgbClr val="EB6834"/>
                </a:solidFill>
                <a:latin typeface="Calibri" pitchFamily="34" charset="0"/>
                <a:ea typeface="Calibri" pitchFamily="34" charset="-122"/>
                <a:cs typeface="Calibri" pitchFamily="34" charset="-120"/>
              </a:rPr>
              <a:t>1 453</a:t>
            </a:r>
            <a:endParaRPr lang="en-US" sz="3600" dirty="0"/>
          </a:p>
        </p:txBody>
      </p:sp>
      <p:sp>
        <p:nvSpPr>
          <p:cNvPr id="6" name="Text 4"/>
          <p:cNvSpPr txBox="1"/>
          <p:nvPr/>
        </p:nvSpPr>
        <p:spPr>
          <a:xfrm>
            <a:off x="548640" y="2013790"/>
            <a:ext cx="2468880" cy="566928"/>
          </a:xfrm>
          <a:prstGeom prst="rect">
            <a:avLst/>
          </a:prstGeom>
          <a:noFill/>
          <a:ln/>
        </p:spPr>
        <p:txBody>
          <a:bodyPr wrap="square" lIns="0" tIns="0" rIns="0" bIns="0" rtlCol="0" anchor="t"/>
          <a:lstStyle/>
          <a:p>
            <a:pPr indent="0" marL="0">
              <a:buNone/>
            </a:pPr>
            <a:r>
              <a:rPr lang="en-US" sz="1300" dirty="0">
                <a:solidFill>
                  <a:srgbClr val="4A5566"/>
                </a:solidFill>
                <a:latin typeface="Calibri" pitchFamily="34" charset="0"/>
                <a:ea typeface="Calibri" pitchFamily="34" charset="-122"/>
                <a:cs typeface="Calibri" pitchFamily="34" charset="-120"/>
              </a:rPr>
              <a:t>patients — une IRM T1 chacun</a:t>
            </a:r>
            <a:endParaRPr lang="en-US" sz="1300" dirty="0"/>
          </a:p>
        </p:txBody>
      </p:sp>
      <p:sp>
        <p:nvSpPr>
          <p:cNvPr id="7" name="Text 5"/>
          <p:cNvSpPr txBox="1"/>
          <p:nvPr/>
        </p:nvSpPr>
        <p:spPr>
          <a:xfrm>
            <a:off x="3154680" y="1325880"/>
            <a:ext cx="2468880" cy="633046"/>
          </a:xfrm>
          <a:prstGeom prst="rect">
            <a:avLst/>
          </a:prstGeom>
          <a:noFill/>
          <a:ln/>
        </p:spPr>
        <p:txBody>
          <a:bodyPr wrap="square" lIns="0" tIns="0" rIns="0" bIns="0" rtlCol="0" anchor="b"/>
          <a:lstStyle/>
          <a:p>
            <a:pPr indent="0" marL="0">
              <a:buNone/>
            </a:pPr>
            <a:r>
              <a:rPr lang="en-US" sz="3600" b="1" dirty="0">
                <a:solidFill>
                  <a:srgbClr val="EB6834"/>
                </a:solidFill>
                <a:latin typeface="Calibri" pitchFamily="34" charset="0"/>
                <a:ea typeface="Calibri" pitchFamily="34" charset="-122"/>
                <a:cs typeface="Calibri" pitchFamily="34" charset="-120"/>
              </a:rPr>
              <a:t>55</a:t>
            </a:r>
            <a:endParaRPr lang="en-US" sz="3600" dirty="0"/>
          </a:p>
        </p:txBody>
      </p:sp>
      <p:sp>
        <p:nvSpPr>
          <p:cNvPr id="8" name="Text 6"/>
          <p:cNvSpPr txBox="1"/>
          <p:nvPr/>
        </p:nvSpPr>
        <p:spPr>
          <a:xfrm>
            <a:off x="3154680" y="2013790"/>
            <a:ext cx="2468880" cy="566928"/>
          </a:xfrm>
          <a:prstGeom prst="rect">
            <a:avLst/>
          </a:prstGeom>
          <a:noFill/>
          <a:ln/>
        </p:spPr>
        <p:txBody>
          <a:bodyPr wrap="square" lIns="0" tIns="0" rIns="0" bIns="0" rtlCol="0" anchor="t"/>
          <a:lstStyle/>
          <a:p>
            <a:pPr indent="0" marL="0">
              <a:buNone/>
            </a:pPr>
            <a:r>
              <a:rPr lang="en-US" sz="1300" dirty="0">
                <a:solidFill>
                  <a:srgbClr val="4A5566"/>
                </a:solidFill>
                <a:latin typeface="Calibri" pitchFamily="34" charset="0"/>
                <a:ea typeface="Calibri" pitchFamily="34" charset="-122"/>
                <a:cs typeface="Calibri" pitchFamily="34" charset="-120"/>
              </a:rPr>
              <a:t>centres : 54 d'ATLAS (R001–R071) + SOOP</a:t>
            </a:r>
            <a:endParaRPr lang="en-US" sz="1300" dirty="0"/>
          </a:p>
        </p:txBody>
      </p:sp>
      <p:sp>
        <p:nvSpPr>
          <p:cNvPr id="9" name="Text 7"/>
          <p:cNvSpPr txBox="1"/>
          <p:nvPr/>
        </p:nvSpPr>
        <p:spPr>
          <a:xfrm>
            <a:off x="548640" y="2697480"/>
            <a:ext cx="2468880" cy="633046"/>
          </a:xfrm>
          <a:prstGeom prst="rect">
            <a:avLst/>
          </a:prstGeom>
          <a:noFill/>
          <a:ln/>
        </p:spPr>
        <p:txBody>
          <a:bodyPr wrap="square" lIns="0" tIns="0" rIns="0" bIns="0" rtlCol="0" anchor="b"/>
          <a:lstStyle/>
          <a:p>
            <a:pPr indent="0" marL="0">
              <a:buNone/>
            </a:pPr>
            <a:r>
              <a:rPr lang="en-US" sz="3600" b="1" dirty="0">
                <a:solidFill>
                  <a:srgbClr val="EB6834"/>
                </a:solidFill>
                <a:latin typeface="Calibri" pitchFamily="34" charset="0"/>
                <a:ea typeface="Calibri" pitchFamily="34" charset="-122"/>
                <a:cs typeface="Calibri" pitchFamily="34" charset="-120"/>
              </a:rPr>
              <a:t>955 + 498</a:t>
            </a:r>
            <a:endParaRPr lang="en-US" sz="3600" dirty="0"/>
          </a:p>
        </p:txBody>
      </p:sp>
      <p:sp>
        <p:nvSpPr>
          <p:cNvPr id="10" name="Text 8"/>
          <p:cNvSpPr txBox="1"/>
          <p:nvPr/>
        </p:nvSpPr>
        <p:spPr>
          <a:xfrm>
            <a:off x="548640" y="3385390"/>
            <a:ext cx="2468880" cy="566928"/>
          </a:xfrm>
          <a:prstGeom prst="rect">
            <a:avLst/>
          </a:prstGeom>
          <a:noFill/>
          <a:ln/>
        </p:spPr>
        <p:txBody>
          <a:bodyPr wrap="square" lIns="0" tIns="0" rIns="0" bIns="0" rtlCol="0" anchor="t"/>
          <a:lstStyle/>
          <a:p>
            <a:pPr indent="0" marL="0">
              <a:buNone/>
            </a:pPr>
            <a:r>
              <a:rPr lang="en-US" sz="1300" dirty="0">
                <a:solidFill>
                  <a:srgbClr val="4A5566"/>
                </a:solidFill>
                <a:latin typeface="Calibri" pitchFamily="34" charset="0"/>
                <a:ea typeface="Calibri" pitchFamily="34" charset="-122"/>
                <a:cs typeface="Calibri" pitchFamily="34" charset="-120"/>
              </a:rPr>
              <a:t>cas ATLAS v2.0 + nouveaux dans v3</a:t>
            </a:r>
            <a:endParaRPr lang="en-US" sz="1300" dirty="0"/>
          </a:p>
        </p:txBody>
      </p:sp>
      <p:sp>
        <p:nvSpPr>
          <p:cNvPr id="11" name="Text 9"/>
          <p:cNvSpPr txBox="1"/>
          <p:nvPr/>
        </p:nvSpPr>
        <p:spPr>
          <a:xfrm>
            <a:off x="3154680" y="2697480"/>
            <a:ext cx="2468880" cy="633046"/>
          </a:xfrm>
          <a:prstGeom prst="rect">
            <a:avLst/>
          </a:prstGeom>
          <a:noFill/>
          <a:ln/>
        </p:spPr>
        <p:txBody>
          <a:bodyPr wrap="square" lIns="0" tIns="0" rIns="0" bIns="0" rtlCol="0" anchor="b"/>
          <a:lstStyle/>
          <a:p>
            <a:pPr indent="0" marL="0">
              <a:buNone/>
            </a:pPr>
            <a:r>
              <a:rPr lang="en-US" sz="3600" b="1" dirty="0">
                <a:solidFill>
                  <a:srgbClr val="EB6834"/>
                </a:solidFill>
                <a:latin typeface="Calibri" pitchFamily="34" charset="0"/>
                <a:ea typeface="Calibri" pitchFamily="34" charset="-122"/>
                <a:cs typeface="Calibri" pitchFamily="34" charset="-120"/>
              </a:rPr>
              <a:t>6 Go</a:t>
            </a:r>
            <a:endParaRPr lang="en-US" sz="3600" dirty="0"/>
          </a:p>
        </p:txBody>
      </p:sp>
      <p:sp>
        <p:nvSpPr>
          <p:cNvPr id="12" name="Text 10"/>
          <p:cNvSpPr txBox="1"/>
          <p:nvPr/>
        </p:nvSpPr>
        <p:spPr>
          <a:xfrm>
            <a:off x="3154680" y="3385390"/>
            <a:ext cx="2468880" cy="566928"/>
          </a:xfrm>
          <a:prstGeom prst="rect">
            <a:avLst/>
          </a:prstGeom>
          <a:noFill/>
          <a:ln/>
        </p:spPr>
        <p:txBody>
          <a:bodyPr wrap="square" lIns="0" tIns="0" rIns="0" bIns="0" rtlCol="0" anchor="t"/>
          <a:lstStyle/>
          <a:p>
            <a:pPr indent="0" marL="0">
              <a:buNone/>
            </a:pPr>
            <a:r>
              <a:rPr lang="en-US" sz="1300" dirty="0">
                <a:solidFill>
                  <a:srgbClr val="4A5566"/>
                </a:solidFill>
                <a:latin typeface="Calibri" pitchFamily="34" charset="0"/>
                <a:ea typeface="Calibri" pitchFamily="34" charset="-122"/>
                <a:cs typeface="Calibri" pitchFamily="34" charset="-120"/>
              </a:rPr>
              <a:t>fichiers NIfTI (.nii.gz) après extraction</a:t>
            </a:r>
            <a:endParaRPr lang="en-US" sz="1300" dirty="0"/>
          </a:p>
        </p:txBody>
      </p:sp>
      <p:sp>
        <p:nvSpPr>
          <p:cNvPr id="13" name="Shape 11"/>
          <p:cNvSpPr/>
          <p:nvPr/>
        </p:nvSpPr>
        <p:spPr>
          <a:xfrm>
            <a:off x="548640" y="4160520"/>
            <a:ext cx="5074920" cy="1783080"/>
          </a:xfrm>
          <a:prstGeom prst="roundRect">
            <a:avLst>
              <a:gd name="adj" fmla="val 4103"/>
            </a:avLst>
          </a:prstGeom>
          <a:solidFill>
            <a:srgbClr val="F2F4F7"/>
          </a:solidFill>
          <a:ln w="12700">
            <a:solidFill>
              <a:srgbClr val="F2F4F7"/>
            </a:solidFill>
            <a:prstDash val="solid"/>
          </a:ln>
        </p:spPr>
      </p:sp>
      <p:sp>
        <p:nvSpPr>
          <p:cNvPr id="14" name="Text 12"/>
          <p:cNvSpPr txBox="1"/>
          <p:nvPr/>
        </p:nvSpPr>
        <p:spPr>
          <a:xfrm>
            <a:off x="731520" y="4297680"/>
            <a:ext cx="4754880" cy="320040"/>
          </a:xfrm>
          <a:prstGeom prst="rect">
            <a:avLst/>
          </a:prstGeom>
          <a:noFill/>
          <a:ln/>
        </p:spPr>
        <p:txBody>
          <a:bodyPr wrap="square" lIns="0" tIns="0" rIns="0" bIns="0" rtlCol="0" anchor="ctr"/>
          <a:lstStyle/>
          <a:p>
            <a:pPr indent="0" marL="0">
              <a:buNone/>
            </a:pPr>
            <a:r>
              <a:rPr lang="en-US" sz="1400" b="1" dirty="0">
                <a:solidFill>
                  <a:srgbClr val="1A2230"/>
                </a:solidFill>
                <a:latin typeface="Calibri" pitchFamily="34" charset="0"/>
                <a:ea typeface="Calibri" pitchFamily="34" charset="-122"/>
                <a:cs typeface="Calibri" pitchFamily="34" charset="-120"/>
              </a:rPr>
              <a:t>Organisation (format BIDS)</a:t>
            </a:r>
            <a:endParaRPr lang="en-US" sz="1400" dirty="0"/>
          </a:p>
        </p:txBody>
      </p:sp>
      <p:sp>
        <p:nvSpPr>
          <p:cNvPr id="15" name="Text 13"/>
          <p:cNvSpPr txBox="1"/>
          <p:nvPr/>
        </p:nvSpPr>
        <p:spPr>
          <a:xfrm>
            <a:off x="731520" y="4663440"/>
            <a:ext cx="4754880" cy="1508760"/>
          </a:xfrm>
          <a:prstGeom prst="rect">
            <a:avLst/>
          </a:prstGeom>
          <a:noFill/>
          <a:ln/>
        </p:spPr>
        <p:txBody>
          <a:bodyPr wrap="square" lIns="0" tIns="0" rIns="0" bIns="0" rtlCol="0" anchor="t"/>
          <a:lstStyle/>
          <a:p>
            <a:pPr indent="0" marL="0">
              <a:buNone/>
            </a:pPr>
            <a:r>
              <a:rPr lang="en-US" sz="1200" dirty="0">
                <a:solidFill>
                  <a:srgbClr val="4A5566"/>
                </a:solidFill>
                <a:latin typeface="Courier New" pitchFamily="34" charset="0"/>
                <a:ea typeface="Courier New" pitchFamily="34" charset="-122"/>
                <a:cs typeface="Courier New" pitchFamily="34" charset="-120"/>
              </a:rPr>
              <a:t>ATLAS3_Training_Raw/</a:t>
            </a:r>
            <a:endParaRPr lang="en-US" sz="1200" dirty="0"/>
          </a:p>
          <a:p>
            <a:pPr indent="0" marL="0">
              <a:buNone/>
            </a:pPr>
            <a:r>
              <a:rPr lang="en-US" sz="1200" dirty="0">
                <a:solidFill>
                  <a:srgbClr val="4A5566"/>
                </a:solidFill>
                <a:latin typeface="Courier New" pitchFamily="34" charset="0"/>
                <a:ea typeface="Courier New" pitchFamily="34" charset="-122"/>
                <a:cs typeface="Courier New" pitchFamily="34" charset="-120"/>
              </a:rPr>
              <a:t>└ R009/sub-r009s001/ses-1/anat/</a:t>
            </a:r>
            <a:endParaRPr lang="en-US" sz="1200" dirty="0"/>
          </a:p>
          <a:p>
            <a:pPr indent="0" marL="0">
              <a:buNone/>
            </a:pPr>
            <a:r>
              <a:rPr lang="en-US" sz="1200" dirty="0">
                <a:solidFill>
                  <a:srgbClr val="4A5566"/>
                </a:solidFill>
                <a:latin typeface="Courier New" pitchFamily="34" charset="0"/>
                <a:ea typeface="Courier New" pitchFamily="34" charset="-122"/>
                <a:cs typeface="Courier New" pitchFamily="34" charset="-120"/>
              </a:rPr>
              <a:t>   ├ …_desc-brain_T1w.nii.gz</a:t>
            </a:r>
            <a:endParaRPr lang="en-US" sz="1200" dirty="0"/>
          </a:p>
          <a:p>
            <a:pPr indent="0" marL="0">
              <a:buNone/>
            </a:pPr>
            <a:r>
              <a:rPr lang="en-US" sz="1200" dirty="0">
                <a:solidFill>
                  <a:srgbClr val="4A5566"/>
                </a:solidFill>
                <a:latin typeface="Courier New" pitchFamily="34" charset="0"/>
                <a:ea typeface="Courier New" pitchFamily="34" charset="-122"/>
                <a:cs typeface="Courier New" pitchFamily="34" charset="-120"/>
              </a:rPr>
              <a:t>   ├ …_label-lesion_…_mask.nii.gz</a:t>
            </a:r>
            <a:endParaRPr lang="en-US" sz="1200" dirty="0"/>
          </a:p>
          <a:p>
            <a:pPr indent="0" marL="0">
              <a:buNone/>
            </a:pPr>
            <a:r>
              <a:rPr lang="en-US" sz="1200" dirty="0">
                <a:solidFill>
                  <a:srgbClr val="4A5566"/>
                </a:solidFill>
                <a:latin typeface="Courier New" pitchFamily="34" charset="0"/>
                <a:ea typeface="Courier New" pitchFamily="34" charset="-122"/>
                <a:cs typeface="Courier New" pitchFamily="34" charset="-120"/>
              </a:rPr>
              <a:t>   └ …_metadata.csv</a:t>
            </a:r>
            <a:endParaRPr lang="en-US" sz="1200" dirty="0"/>
          </a:p>
        </p:txBody>
      </p:sp>
      <p:pic>
        <p:nvPicPr>
          <p:cNvPr id="16" name="Image 0" descr="Un patient : coupe IRM T1, masque de lésion binaire, et superposition">    </p:cNvPr>
          <p:cNvPicPr>
            <a:picLocks noChangeAspect="1"/>
          </p:cNvPicPr>
          <p:nvPr/>
        </p:nvPicPr>
        <p:blipFill>
          <a:blip r:embed="rId1"/>
          <a:stretch>
            <a:fillRect/>
          </a:stretch>
        </p:blipFill>
        <p:spPr>
          <a:xfrm>
            <a:off x="6035040" y="1325880"/>
            <a:ext cx="5605272" cy="2354214"/>
          </a:xfrm>
          <a:prstGeom prst="rect">
            <a:avLst/>
          </a:prstGeom>
        </p:spPr>
      </p:pic>
      <p:sp>
        <p:nvSpPr>
          <p:cNvPr id="17" name="Text 14"/>
          <p:cNvSpPr txBox="1"/>
          <p:nvPr/>
        </p:nvSpPr>
        <p:spPr>
          <a:xfrm>
            <a:off x="6035040" y="3753246"/>
            <a:ext cx="1868424" cy="502920"/>
          </a:xfrm>
          <a:prstGeom prst="rect">
            <a:avLst/>
          </a:prstGeom>
          <a:noFill/>
          <a:ln/>
        </p:spPr>
        <p:txBody>
          <a:bodyPr wrap="square" lIns="0" tIns="0" rIns="0" bIns="0" rtlCol="0" anchor="t"/>
          <a:lstStyle/>
          <a:p>
            <a:pPr algn="ctr" indent="0" marL="0">
              <a:buNone/>
            </a:pPr>
            <a:r>
              <a:rPr lang="en-US" sz="1200" dirty="0">
                <a:solidFill>
                  <a:srgbClr val="4A5566"/>
                </a:solidFill>
                <a:latin typeface="Calibri" pitchFamily="34" charset="0"/>
                <a:ea typeface="Calibri" pitchFamily="34" charset="-122"/>
                <a:cs typeface="Calibri" pitchFamily="34" charset="-120"/>
              </a:rPr>
              <a:t>IRM T1 pondérée</a:t>
            </a:r>
            <a:endParaRPr lang="en-US" sz="1200" dirty="0"/>
          </a:p>
          <a:p>
            <a:pPr algn="ctr" indent="0" marL="0">
              <a:buNone/>
            </a:pPr>
            <a:r>
              <a:rPr lang="en-US" sz="1200" dirty="0">
                <a:solidFill>
                  <a:srgbClr val="4A5566"/>
                </a:solidFill>
                <a:latin typeface="Calibri" pitchFamily="34" charset="0"/>
                <a:ea typeface="Calibri" pitchFamily="34" charset="-122"/>
                <a:cs typeface="Calibri" pitchFamily="34" charset="-120"/>
              </a:rPr>
              <a:t>(crâne retiré)</a:t>
            </a:r>
            <a:endParaRPr lang="en-US" sz="1200" dirty="0"/>
          </a:p>
        </p:txBody>
      </p:sp>
      <p:sp>
        <p:nvSpPr>
          <p:cNvPr id="18" name="Text 15"/>
          <p:cNvSpPr txBox="1"/>
          <p:nvPr/>
        </p:nvSpPr>
        <p:spPr>
          <a:xfrm>
            <a:off x="7903464" y="3753246"/>
            <a:ext cx="1868424" cy="502920"/>
          </a:xfrm>
          <a:prstGeom prst="rect">
            <a:avLst/>
          </a:prstGeom>
          <a:noFill/>
          <a:ln/>
        </p:spPr>
        <p:txBody>
          <a:bodyPr wrap="square" lIns="0" tIns="0" rIns="0" bIns="0" rtlCol="0" anchor="t"/>
          <a:lstStyle/>
          <a:p>
            <a:pPr algn="ctr" indent="0" marL="0">
              <a:buNone/>
            </a:pPr>
            <a:r>
              <a:rPr lang="en-US" sz="1200" dirty="0">
                <a:solidFill>
                  <a:srgbClr val="4A5566"/>
                </a:solidFill>
                <a:latin typeface="Calibri" pitchFamily="34" charset="0"/>
                <a:ea typeface="Calibri" pitchFamily="34" charset="-122"/>
                <a:cs typeface="Calibri" pitchFamily="34" charset="-120"/>
              </a:rPr>
              <a:t>Masque de lésion</a:t>
            </a:r>
            <a:endParaRPr lang="en-US" sz="1200" dirty="0"/>
          </a:p>
          <a:p>
            <a:pPr algn="ctr" indent="0" marL="0">
              <a:buNone/>
            </a:pPr>
            <a:r>
              <a:rPr lang="en-US" sz="1200" dirty="0">
                <a:solidFill>
                  <a:srgbClr val="4A5566"/>
                </a:solidFill>
                <a:latin typeface="Calibri" pitchFamily="34" charset="0"/>
                <a:ea typeface="Calibri" pitchFamily="34" charset="-122"/>
                <a:cs typeface="Calibri" pitchFamily="34" charset="-120"/>
              </a:rPr>
              <a:t>(1 = lésion, 0 = sain)</a:t>
            </a:r>
            <a:endParaRPr lang="en-US" sz="1200" dirty="0"/>
          </a:p>
        </p:txBody>
      </p:sp>
      <p:sp>
        <p:nvSpPr>
          <p:cNvPr id="19" name="Text 16"/>
          <p:cNvSpPr txBox="1"/>
          <p:nvPr/>
        </p:nvSpPr>
        <p:spPr>
          <a:xfrm>
            <a:off x="9771888" y="3753246"/>
            <a:ext cx="1868424" cy="502920"/>
          </a:xfrm>
          <a:prstGeom prst="rect">
            <a:avLst/>
          </a:prstGeom>
          <a:noFill/>
          <a:ln/>
        </p:spPr>
        <p:txBody>
          <a:bodyPr wrap="square" lIns="0" tIns="0" rIns="0" bIns="0" rtlCol="0" anchor="t"/>
          <a:lstStyle/>
          <a:p>
            <a:pPr algn="ctr" indent="0" marL="0">
              <a:buNone/>
            </a:pPr>
            <a:r>
              <a:rPr lang="en-US" sz="1200" dirty="0">
                <a:solidFill>
                  <a:srgbClr val="4A5566"/>
                </a:solidFill>
                <a:latin typeface="Calibri" pitchFamily="34" charset="0"/>
                <a:ea typeface="Calibri" pitchFamily="34" charset="-122"/>
                <a:cs typeface="Calibri" pitchFamily="34" charset="-120"/>
              </a:rPr>
              <a:t>Superposition</a:t>
            </a:r>
            <a:endParaRPr lang="en-US" sz="1200" dirty="0"/>
          </a:p>
        </p:txBody>
      </p:sp>
      <p:sp>
        <p:nvSpPr>
          <p:cNvPr id="20" name="Shape 17"/>
          <p:cNvSpPr/>
          <p:nvPr/>
        </p:nvSpPr>
        <p:spPr>
          <a:xfrm>
            <a:off x="6035040" y="4160520"/>
            <a:ext cx="5605272" cy="1783080"/>
          </a:xfrm>
          <a:prstGeom prst="roundRect">
            <a:avLst>
              <a:gd name="adj" fmla="val 4103"/>
            </a:avLst>
          </a:prstGeom>
          <a:solidFill>
            <a:srgbClr val="F2F4F7"/>
          </a:solidFill>
          <a:ln w="12700">
            <a:solidFill>
              <a:srgbClr val="F2F4F7"/>
            </a:solidFill>
            <a:prstDash val="solid"/>
          </a:ln>
        </p:spPr>
      </p:sp>
      <p:sp>
        <p:nvSpPr>
          <p:cNvPr id="21" name="Text 18"/>
          <p:cNvSpPr txBox="1"/>
          <p:nvPr/>
        </p:nvSpPr>
        <p:spPr>
          <a:xfrm>
            <a:off x="6217920" y="4288536"/>
            <a:ext cx="5239512" cy="1527048"/>
          </a:xfrm>
          <a:prstGeom prst="rect">
            <a:avLst/>
          </a:prstGeom>
          <a:noFill/>
          <a:ln/>
        </p:spPr>
        <p:txBody>
          <a:bodyPr wrap="square" lIns="0" tIns="0" rIns="0" bIns="0" rtlCol="0" anchor="t"/>
          <a:lstStyle/>
          <a:p>
            <a:pPr indent="0" marL="0">
              <a:spcAft>
                <a:spcPts val="500"/>
              </a:spcAft>
              <a:buNone/>
            </a:pPr>
            <a:r>
              <a:rPr lang="en-US" sz="1400" b="1" dirty="0">
                <a:solidFill>
                  <a:srgbClr val="1A2230"/>
                </a:solidFill>
                <a:latin typeface="Calibri" pitchFamily="34" charset="0"/>
                <a:ea typeface="Calibri" pitchFamily="34" charset="-122"/>
                <a:cs typeface="Calibri" pitchFamily="34" charset="-120"/>
              </a:rPr>
              <a:t>metadata.csv — une ligne par patient</a:t>
            </a:r>
            <a:endParaRPr lang="en-US" sz="1400" dirty="0"/>
          </a:p>
          <a:p>
            <a:pPr indent="0" marL="0">
              <a:spcAft>
                <a:spcPts val="500"/>
              </a:spcAft>
              <a:buNone/>
            </a:pPr>
            <a:r>
              <a:rPr lang="en-US" sz="1250" dirty="0">
                <a:solidFill>
                  <a:srgbClr val="4A5566"/>
                </a:solidFill>
                <a:latin typeface="Calibri" pitchFamily="34" charset="0"/>
                <a:ea typeface="Calibri" pitchFamily="34" charset="-122"/>
                <a:cs typeface="Calibri" pitchFamily="34" charset="-120"/>
              </a:rPr>
              <a:t>SESSION_ID · SITE (le centre) · DAYS_POST_STROKE · CHRONICITY · ATLAS2_DATASET</a:t>
            </a:r>
            <a:endParaRPr lang="en-US" sz="1400" dirty="0"/>
          </a:p>
          <a:p>
            <a:pPr indent="0" marL="0">
              <a:spcAft>
                <a:spcPts val="500"/>
              </a:spcAft>
              <a:buNone/>
            </a:pPr>
            <a:r>
              <a:rPr lang="en-US" sz="1250" dirty="0">
                <a:solidFill>
                  <a:srgbClr val="4A5566"/>
                </a:solidFill>
                <a:latin typeface="Calibri" pitchFamily="34" charset="0"/>
                <a:ea typeface="Calibri" pitchFamily="34" charset="-122"/>
                <a:cs typeface="Calibri" pitchFamily="34" charset="-120"/>
              </a:rPr>
              <a:t>Fusionnés en une seule table de 1 453 lignes (Parquet) : c'est l'inventaire, étape 1 du pipeline.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9768"/>
            <a:ext cx="457200" cy="457200"/>
          </a:xfrm>
          <a:prstGeom prst="ellipse">
            <a:avLst/>
          </a:prstGeom>
          <a:solidFill>
            <a:srgbClr val="EB6834"/>
          </a:solidFill>
          <a:ln w="12700">
            <a:solidFill>
              <a:srgbClr val="EB6834"/>
            </a:solidFill>
            <a:prstDash val="solid"/>
          </a:ln>
        </p:spPr>
      </p:sp>
      <p:sp>
        <p:nvSpPr>
          <p:cNvPr id="3" name="Text 1"/>
          <p:cNvSpPr txBox="1"/>
          <p:nvPr/>
        </p:nvSpPr>
        <p:spPr>
          <a:xfrm>
            <a:off x="548640" y="4297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4" name="Text 2"/>
          <p:cNvSpPr txBox="1"/>
          <p:nvPr/>
        </p:nvSpPr>
        <p:spPr>
          <a:xfrm>
            <a:off x="1188720" y="310896"/>
            <a:ext cx="10454335" cy="694944"/>
          </a:xfrm>
          <a:prstGeom prst="rect">
            <a:avLst/>
          </a:prstGeom>
          <a:noFill/>
          <a:ln/>
        </p:spPr>
        <p:txBody>
          <a:bodyPr wrap="square" lIns="0" tIns="0" rIns="0" bIns="0" rtlCol="0" anchor="ctr"/>
          <a:lstStyle/>
          <a:p>
            <a:pPr indent="0" marL="0">
              <a:buNone/>
            </a:pPr>
            <a:r>
              <a:rPr lang="en-US" sz="3000" b="1" dirty="0">
                <a:solidFill>
                  <a:srgbClr val="1A2230"/>
                </a:solidFill>
                <a:latin typeface="Calibri" pitchFamily="34" charset="0"/>
                <a:ea typeface="Calibri" pitchFamily="34" charset="-122"/>
                <a:cs typeface="Calibri" pitchFamily="34" charset="-120"/>
              </a:rPr>
              <a:t>Démarche : du fichier chiffré aux statistiques par centre</a:t>
            </a:r>
            <a:endParaRPr lang="en-US" sz="3000" dirty="0"/>
          </a:p>
        </p:txBody>
      </p:sp>
      <p:sp>
        <p:nvSpPr>
          <p:cNvPr id="5" name="Shape 3"/>
          <p:cNvSpPr/>
          <p:nvPr/>
        </p:nvSpPr>
        <p:spPr>
          <a:xfrm>
            <a:off x="548640" y="1554480"/>
            <a:ext cx="2036003" cy="3657600"/>
          </a:xfrm>
          <a:prstGeom prst="roundRect">
            <a:avLst>
              <a:gd name="adj" fmla="val 3593"/>
            </a:avLst>
          </a:prstGeom>
          <a:solidFill>
            <a:srgbClr val="F2F4F7"/>
          </a:solidFill>
          <a:ln w="12700">
            <a:solidFill>
              <a:srgbClr val="F2F4F7"/>
            </a:solidFill>
            <a:prstDash val="solid"/>
          </a:ln>
        </p:spPr>
      </p:sp>
      <p:sp>
        <p:nvSpPr>
          <p:cNvPr id="6" name="Shape 4"/>
          <p:cNvSpPr/>
          <p:nvPr/>
        </p:nvSpPr>
        <p:spPr>
          <a:xfrm>
            <a:off x="749808" y="1783080"/>
            <a:ext cx="502920" cy="502920"/>
          </a:xfrm>
          <a:prstGeom prst="ellipse">
            <a:avLst/>
          </a:prstGeom>
          <a:solidFill>
            <a:srgbClr val="EB6834"/>
          </a:solidFill>
          <a:ln w="12700">
            <a:solidFill>
              <a:srgbClr val="EB6834"/>
            </a:solidFill>
            <a:prstDash val="solid"/>
          </a:ln>
        </p:spPr>
      </p:sp>
      <p:sp>
        <p:nvSpPr>
          <p:cNvPr id="7" name="Text 5"/>
          <p:cNvSpPr txBox="1"/>
          <p:nvPr/>
        </p:nvSpPr>
        <p:spPr>
          <a:xfrm>
            <a:off x="749808" y="17830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txBox="1"/>
          <p:nvPr/>
        </p:nvSpPr>
        <p:spPr>
          <a:xfrm>
            <a:off x="749808" y="2423160"/>
            <a:ext cx="1670243" cy="640080"/>
          </a:xfrm>
          <a:prstGeom prst="rect">
            <a:avLst/>
          </a:prstGeom>
          <a:noFill/>
          <a:ln/>
        </p:spPr>
        <p:txBody>
          <a:bodyPr wrap="square" lIns="0" tIns="0" rIns="0" bIns="0" rtlCol="0" anchor="t"/>
          <a:lstStyle/>
          <a:p>
            <a:pPr indent="0" marL="0">
              <a:buNone/>
            </a:pPr>
            <a:r>
              <a:rPr lang="en-US" sz="1600" b="1" dirty="0">
                <a:solidFill>
                  <a:srgbClr val="1A2230"/>
                </a:solidFill>
                <a:latin typeface="Calibri" pitchFamily="34" charset="0"/>
                <a:ea typeface="Calibri" pitchFamily="34" charset="-122"/>
                <a:cs typeface="Calibri" pitchFamily="34" charset="-120"/>
              </a:rPr>
              <a:t>Déchiffrer &amp; extraire</a:t>
            </a:r>
            <a:endParaRPr lang="en-US" sz="1600" dirty="0"/>
          </a:p>
        </p:txBody>
      </p:sp>
      <p:sp>
        <p:nvSpPr>
          <p:cNvPr id="9" name="Text 7"/>
          <p:cNvSpPr txBox="1"/>
          <p:nvPr/>
        </p:nvSpPr>
        <p:spPr>
          <a:xfrm>
            <a:off x="749808" y="3063240"/>
            <a:ext cx="1670243" cy="1417320"/>
          </a:xfrm>
          <a:prstGeom prst="rect">
            <a:avLst/>
          </a:prstGeom>
          <a:noFill/>
          <a:ln/>
        </p:spPr>
        <p:txBody>
          <a:bodyPr wrap="square" lIns="0" tIns="0" rIns="0" bIns="0" rtlCol="0" anchor="t"/>
          <a:lstStyle/>
          <a:p>
            <a:pPr indent="0" marL="0">
              <a:buNone/>
            </a:pPr>
            <a:r>
              <a:rPr lang="en-US" sz="1250" dirty="0">
                <a:solidFill>
                  <a:srgbClr val="4A5566"/>
                </a:solidFill>
                <a:latin typeface="Calibri" pitchFamily="34" charset="0"/>
                <a:ea typeface="Calibri" pitchFamily="34" charset="-122"/>
                <a:cs typeface="Calibri" pitchFamily="34" charset="-120"/>
              </a:rPr>
              <a:t>Archive NITRC chiffrée (AES) → 1 453 dossiers. Vérifié : 3 fichiers par patient, aucun manquant.</a:t>
            </a:r>
            <a:endParaRPr lang="en-US" sz="1250" dirty="0"/>
          </a:p>
        </p:txBody>
      </p:sp>
      <p:sp>
        <p:nvSpPr>
          <p:cNvPr id="10" name="Text 8"/>
          <p:cNvSpPr txBox="1"/>
          <p:nvPr/>
        </p:nvSpPr>
        <p:spPr>
          <a:xfrm>
            <a:off x="749808" y="4526280"/>
            <a:ext cx="1761683" cy="548640"/>
          </a:xfrm>
          <a:prstGeom prst="rect">
            <a:avLst/>
          </a:prstGeom>
          <a:noFill/>
          <a:ln/>
        </p:spPr>
        <p:txBody>
          <a:bodyPr wrap="square" lIns="0" tIns="0" rIns="0" bIns="0" rtlCol="0" anchor="b"/>
          <a:lstStyle/>
          <a:p>
            <a:pPr indent="0" marL="0">
              <a:buNone/>
            </a:pPr>
            <a:r>
              <a:rPr lang="en-US" sz="1100" dirty="0">
                <a:solidFill>
                  <a:srgbClr val="2A78D6"/>
                </a:solidFill>
                <a:latin typeface="Calibri" pitchFamily="34" charset="0"/>
                <a:ea typeface="Calibri" pitchFamily="34" charset="-122"/>
                <a:cs typeface="Calibri" pitchFamily="34" charset="-120"/>
              </a:rPr>
              <a:t>openssl + tar</a:t>
            </a:r>
            <a:endParaRPr lang="en-US" sz="1100" dirty="0"/>
          </a:p>
        </p:txBody>
      </p:sp>
      <p:sp>
        <p:nvSpPr>
          <p:cNvPr id="11" name="Shape 9"/>
          <p:cNvSpPr/>
          <p:nvPr/>
        </p:nvSpPr>
        <p:spPr>
          <a:xfrm>
            <a:off x="2813243" y="1554480"/>
            <a:ext cx="2036003" cy="3657600"/>
          </a:xfrm>
          <a:prstGeom prst="roundRect">
            <a:avLst>
              <a:gd name="adj" fmla="val 3593"/>
            </a:avLst>
          </a:prstGeom>
          <a:solidFill>
            <a:srgbClr val="F2F4F7"/>
          </a:solidFill>
          <a:ln w="12700">
            <a:solidFill>
              <a:srgbClr val="F2F4F7"/>
            </a:solidFill>
            <a:prstDash val="solid"/>
          </a:ln>
        </p:spPr>
      </p:sp>
      <p:sp>
        <p:nvSpPr>
          <p:cNvPr id="12" name="Shape 10"/>
          <p:cNvSpPr/>
          <p:nvPr/>
        </p:nvSpPr>
        <p:spPr>
          <a:xfrm>
            <a:off x="3014411" y="1783080"/>
            <a:ext cx="502920" cy="502920"/>
          </a:xfrm>
          <a:prstGeom prst="ellipse">
            <a:avLst/>
          </a:prstGeom>
          <a:solidFill>
            <a:srgbClr val="EB6834"/>
          </a:solidFill>
          <a:ln w="12700">
            <a:solidFill>
              <a:srgbClr val="EB6834"/>
            </a:solidFill>
            <a:prstDash val="solid"/>
          </a:ln>
        </p:spPr>
      </p:sp>
      <p:sp>
        <p:nvSpPr>
          <p:cNvPr id="13" name="Text 11"/>
          <p:cNvSpPr txBox="1"/>
          <p:nvPr/>
        </p:nvSpPr>
        <p:spPr>
          <a:xfrm>
            <a:off x="3014411" y="17830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txBox="1"/>
          <p:nvPr/>
        </p:nvSpPr>
        <p:spPr>
          <a:xfrm>
            <a:off x="3014411" y="2423160"/>
            <a:ext cx="1670243" cy="640080"/>
          </a:xfrm>
          <a:prstGeom prst="rect">
            <a:avLst/>
          </a:prstGeom>
          <a:noFill/>
          <a:ln/>
        </p:spPr>
        <p:txBody>
          <a:bodyPr wrap="square" lIns="0" tIns="0" rIns="0" bIns="0" rtlCol="0" anchor="t"/>
          <a:lstStyle/>
          <a:p>
            <a:pPr indent="0" marL="0">
              <a:buNone/>
            </a:pPr>
            <a:r>
              <a:rPr lang="en-US" sz="1600" b="1" dirty="0">
                <a:solidFill>
                  <a:srgbClr val="1A2230"/>
                </a:solidFill>
                <a:latin typeface="Calibri" pitchFamily="34" charset="0"/>
                <a:ea typeface="Calibri" pitchFamily="34" charset="-122"/>
                <a:cs typeface="Calibri" pitchFamily="34" charset="-120"/>
              </a:rPr>
              <a:t>Inventaire</a:t>
            </a:r>
            <a:endParaRPr lang="en-US" sz="1600" dirty="0"/>
          </a:p>
        </p:txBody>
      </p:sp>
      <p:sp>
        <p:nvSpPr>
          <p:cNvPr id="15" name="Text 13"/>
          <p:cNvSpPr txBox="1"/>
          <p:nvPr/>
        </p:nvSpPr>
        <p:spPr>
          <a:xfrm>
            <a:off x="3014411" y="3063240"/>
            <a:ext cx="1670243" cy="1417320"/>
          </a:xfrm>
          <a:prstGeom prst="rect">
            <a:avLst/>
          </a:prstGeom>
          <a:noFill/>
          <a:ln/>
        </p:spPr>
        <p:txBody>
          <a:bodyPr wrap="square" lIns="0" tIns="0" rIns="0" bIns="0" rtlCol="0" anchor="t"/>
          <a:lstStyle/>
          <a:p>
            <a:pPr indent="0" marL="0">
              <a:buNone/>
            </a:pPr>
            <a:r>
              <a:rPr lang="en-US" sz="1250" dirty="0">
                <a:solidFill>
                  <a:srgbClr val="4A5566"/>
                </a:solidFill>
                <a:latin typeface="Calibri" pitchFamily="34" charset="0"/>
                <a:ea typeface="Calibri" pitchFamily="34" charset="-122"/>
                <a:cs typeface="Calibri" pitchFamily="34" charset="-120"/>
              </a:rPr>
              <a:t>Fusion des 1 453 metadata.csv en une table (Parquet), une ligne par patient.</a:t>
            </a:r>
            <a:endParaRPr lang="en-US" sz="1250" dirty="0"/>
          </a:p>
        </p:txBody>
      </p:sp>
      <p:sp>
        <p:nvSpPr>
          <p:cNvPr id="16" name="Text 14"/>
          <p:cNvSpPr txBox="1"/>
          <p:nvPr/>
        </p:nvSpPr>
        <p:spPr>
          <a:xfrm>
            <a:off x="3014411" y="4526280"/>
            <a:ext cx="1761683" cy="548640"/>
          </a:xfrm>
          <a:prstGeom prst="rect">
            <a:avLst/>
          </a:prstGeom>
          <a:noFill/>
          <a:ln/>
        </p:spPr>
        <p:txBody>
          <a:bodyPr wrap="square" lIns="0" tIns="0" rIns="0" bIns="0" rtlCol="0" anchor="b"/>
          <a:lstStyle/>
          <a:p>
            <a:pPr indent="0" marL="0">
              <a:buNone/>
            </a:pPr>
            <a:r>
              <a:rPr lang="en-US" sz="1100" dirty="0">
                <a:solidFill>
                  <a:srgbClr val="2A78D6"/>
                </a:solidFill>
                <a:latin typeface="Calibri" pitchFamily="34" charset="0"/>
                <a:ea typeface="Calibri" pitchFamily="34" charset="-122"/>
                <a:cs typeface="Calibri" pitchFamily="34" charset="-120"/>
              </a:rPr>
              <a:t>01_compute_stats.py</a:t>
            </a:r>
            <a:endParaRPr lang="en-US" sz="1100" dirty="0"/>
          </a:p>
        </p:txBody>
      </p:sp>
      <p:sp>
        <p:nvSpPr>
          <p:cNvPr id="17" name="Shape 15"/>
          <p:cNvSpPr/>
          <p:nvPr/>
        </p:nvSpPr>
        <p:spPr>
          <a:xfrm>
            <a:off x="5077846" y="1554480"/>
            <a:ext cx="2036003" cy="3657600"/>
          </a:xfrm>
          <a:prstGeom prst="roundRect">
            <a:avLst>
              <a:gd name="adj" fmla="val 3593"/>
            </a:avLst>
          </a:prstGeom>
          <a:solidFill>
            <a:srgbClr val="F2F4F7"/>
          </a:solidFill>
          <a:ln w="12700">
            <a:solidFill>
              <a:srgbClr val="F2F4F7"/>
            </a:solidFill>
            <a:prstDash val="solid"/>
          </a:ln>
        </p:spPr>
      </p:sp>
      <p:sp>
        <p:nvSpPr>
          <p:cNvPr id="18" name="Shape 16"/>
          <p:cNvSpPr/>
          <p:nvPr/>
        </p:nvSpPr>
        <p:spPr>
          <a:xfrm>
            <a:off x="5279014" y="1783080"/>
            <a:ext cx="502920" cy="502920"/>
          </a:xfrm>
          <a:prstGeom prst="ellipse">
            <a:avLst/>
          </a:prstGeom>
          <a:solidFill>
            <a:srgbClr val="EB6834"/>
          </a:solidFill>
          <a:ln w="12700">
            <a:solidFill>
              <a:srgbClr val="EB6834"/>
            </a:solidFill>
            <a:prstDash val="solid"/>
          </a:ln>
        </p:spPr>
      </p:sp>
      <p:sp>
        <p:nvSpPr>
          <p:cNvPr id="19" name="Text 17"/>
          <p:cNvSpPr txBox="1"/>
          <p:nvPr/>
        </p:nvSpPr>
        <p:spPr>
          <a:xfrm>
            <a:off x="5279014" y="17830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txBox="1"/>
          <p:nvPr/>
        </p:nvSpPr>
        <p:spPr>
          <a:xfrm>
            <a:off x="5279014" y="2423160"/>
            <a:ext cx="1670243" cy="640080"/>
          </a:xfrm>
          <a:prstGeom prst="rect">
            <a:avLst/>
          </a:prstGeom>
          <a:noFill/>
          <a:ln/>
        </p:spPr>
        <p:txBody>
          <a:bodyPr wrap="square" lIns="0" tIns="0" rIns="0" bIns="0" rtlCol="0" anchor="t"/>
          <a:lstStyle/>
          <a:p>
            <a:pPr indent="0" marL="0">
              <a:buNone/>
            </a:pPr>
            <a:r>
              <a:rPr lang="en-US" sz="1600" b="1" dirty="0">
                <a:solidFill>
                  <a:srgbClr val="1A2230"/>
                </a:solidFill>
                <a:latin typeface="Calibri" pitchFamily="34" charset="0"/>
                <a:ea typeface="Calibri" pitchFamily="34" charset="-122"/>
                <a:cs typeface="Calibri" pitchFamily="34" charset="-120"/>
              </a:rPr>
              <a:t>Mesures par scan</a:t>
            </a:r>
            <a:endParaRPr lang="en-US" sz="1600" dirty="0"/>
          </a:p>
        </p:txBody>
      </p:sp>
      <p:sp>
        <p:nvSpPr>
          <p:cNvPr id="21" name="Text 19"/>
          <p:cNvSpPr txBox="1"/>
          <p:nvPr/>
        </p:nvSpPr>
        <p:spPr>
          <a:xfrm>
            <a:off x="5279014" y="3063240"/>
            <a:ext cx="1670243" cy="1417320"/>
          </a:xfrm>
          <a:prstGeom prst="rect">
            <a:avLst/>
          </a:prstGeom>
          <a:noFill/>
          <a:ln/>
        </p:spPr>
        <p:txBody>
          <a:bodyPr wrap="square" lIns="0" tIns="0" rIns="0" bIns="0" rtlCol="0" anchor="t"/>
          <a:lstStyle/>
          <a:p>
            <a:pPr indent="0" marL="0">
              <a:buNone/>
            </a:pPr>
            <a:r>
              <a:rPr lang="en-US" sz="1250" dirty="0">
                <a:solidFill>
                  <a:srgbClr val="4A5566"/>
                </a:solidFill>
                <a:latin typeface="Calibri" pitchFamily="34" charset="0"/>
                <a:ea typeface="Calibri" pitchFamily="34" charset="-122"/>
                <a:cs typeface="Calibri" pitchFamily="34" charset="-120"/>
              </a:rPr>
              <a:t>Géométrie, volumes du cerveau et de la lésion, nombre de lésions, histogramme d'intensité. 12 cœurs en parallèle : 14 min.</a:t>
            </a:r>
            <a:endParaRPr lang="en-US" sz="1250" dirty="0"/>
          </a:p>
        </p:txBody>
      </p:sp>
      <p:sp>
        <p:nvSpPr>
          <p:cNvPr id="22" name="Text 20"/>
          <p:cNvSpPr txBox="1"/>
          <p:nvPr/>
        </p:nvSpPr>
        <p:spPr>
          <a:xfrm>
            <a:off x="5279014" y="4526280"/>
            <a:ext cx="1761683" cy="548640"/>
          </a:xfrm>
          <a:prstGeom prst="rect">
            <a:avLst/>
          </a:prstGeom>
          <a:noFill/>
          <a:ln/>
        </p:spPr>
        <p:txBody>
          <a:bodyPr wrap="square" lIns="0" tIns="0" rIns="0" bIns="0" rtlCol="0" anchor="b"/>
          <a:lstStyle/>
          <a:p>
            <a:pPr indent="0" marL="0">
              <a:buNone/>
            </a:pPr>
            <a:r>
              <a:rPr lang="en-US" sz="1100" dirty="0">
                <a:solidFill>
                  <a:srgbClr val="2A78D6"/>
                </a:solidFill>
                <a:latin typeface="Calibri" pitchFamily="34" charset="0"/>
                <a:ea typeface="Calibri" pitchFamily="34" charset="-122"/>
                <a:cs typeface="Calibri" pitchFamily="34" charset="-120"/>
              </a:rPr>
              <a:t>01_compute_stats.py</a:t>
            </a:r>
            <a:endParaRPr lang="en-US" sz="1100" dirty="0"/>
          </a:p>
        </p:txBody>
      </p:sp>
      <p:sp>
        <p:nvSpPr>
          <p:cNvPr id="23" name="Shape 21"/>
          <p:cNvSpPr/>
          <p:nvPr/>
        </p:nvSpPr>
        <p:spPr>
          <a:xfrm>
            <a:off x="7342449" y="1554480"/>
            <a:ext cx="2036003" cy="3657600"/>
          </a:xfrm>
          <a:prstGeom prst="roundRect">
            <a:avLst>
              <a:gd name="adj" fmla="val 3593"/>
            </a:avLst>
          </a:prstGeom>
          <a:solidFill>
            <a:srgbClr val="F2F4F7"/>
          </a:solidFill>
          <a:ln w="12700">
            <a:solidFill>
              <a:srgbClr val="F2F4F7"/>
            </a:solidFill>
            <a:prstDash val="solid"/>
          </a:ln>
        </p:spPr>
      </p:sp>
      <p:sp>
        <p:nvSpPr>
          <p:cNvPr id="24" name="Shape 22"/>
          <p:cNvSpPr/>
          <p:nvPr/>
        </p:nvSpPr>
        <p:spPr>
          <a:xfrm>
            <a:off x="7543617" y="1783080"/>
            <a:ext cx="502920" cy="502920"/>
          </a:xfrm>
          <a:prstGeom prst="ellipse">
            <a:avLst/>
          </a:prstGeom>
          <a:solidFill>
            <a:srgbClr val="EB6834"/>
          </a:solidFill>
          <a:ln w="12700">
            <a:solidFill>
              <a:srgbClr val="EB6834"/>
            </a:solidFill>
            <a:prstDash val="solid"/>
          </a:ln>
        </p:spPr>
      </p:sp>
      <p:sp>
        <p:nvSpPr>
          <p:cNvPr id="25" name="Text 23"/>
          <p:cNvSpPr txBox="1"/>
          <p:nvPr/>
        </p:nvSpPr>
        <p:spPr>
          <a:xfrm>
            <a:off x="7543617" y="17830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4"/>
          <p:cNvSpPr txBox="1"/>
          <p:nvPr/>
        </p:nvSpPr>
        <p:spPr>
          <a:xfrm>
            <a:off x="7543617" y="2423160"/>
            <a:ext cx="1670243" cy="640080"/>
          </a:xfrm>
          <a:prstGeom prst="rect">
            <a:avLst/>
          </a:prstGeom>
          <a:noFill/>
          <a:ln/>
        </p:spPr>
        <p:txBody>
          <a:bodyPr wrap="square" lIns="0" tIns="0" rIns="0" bIns="0" rtlCol="0" anchor="t"/>
          <a:lstStyle/>
          <a:p>
            <a:pPr indent="0" marL="0">
              <a:buNone/>
            </a:pPr>
            <a:r>
              <a:rPr lang="en-US" sz="1600" b="1" dirty="0">
                <a:solidFill>
                  <a:srgbClr val="1A2230"/>
                </a:solidFill>
                <a:latin typeface="Calibri" pitchFamily="34" charset="0"/>
                <a:ea typeface="Calibri" pitchFamily="34" charset="-122"/>
                <a:cs typeface="Calibri" pitchFamily="34" charset="-120"/>
              </a:rPr>
              <a:t>Contrôle qualité</a:t>
            </a:r>
            <a:endParaRPr lang="en-US" sz="1600" dirty="0"/>
          </a:p>
        </p:txBody>
      </p:sp>
      <p:sp>
        <p:nvSpPr>
          <p:cNvPr id="27" name="Text 25"/>
          <p:cNvSpPr txBox="1"/>
          <p:nvPr/>
        </p:nvSpPr>
        <p:spPr>
          <a:xfrm>
            <a:off x="7543617" y="3063240"/>
            <a:ext cx="1670243" cy="1417320"/>
          </a:xfrm>
          <a:prstGeom prst="rect">
            <a:avLst/>
          </a:prstGeom>
          <a:noFill/>
          <a:ln/>
        </p:spPr>
        <p:txBody>
          <a:bodyPr wrap="square" lIns="0" tIns="0" rIns="0" bIns="0" rtlCol="0" anchor="t"/>
          <a:lstStyle/>
          <a:p>
            <a:pPr indent="0" marL="0">
              <a:buNone/>
            </a:pPr>
            <a:r>
              <a:rPr lang="en-US" sz="1250" dirty="0">
                <a:solidFill>
                  <a:srgbClr val="4A5566"/>
                </a:solidFill>
                <a:latin typeface="Calibri" pitchFamily="34" charset="0"/>
                <a:ea typeface="Calibri" pitchFamily="34" charset="-122"/>
                <a:cs typeface="Calibri" pitchFamily="34" charset="-120"/>
              </a:rPr>
              <a:t>14 règles automatiques : masques vides, grilles différentes, volumes aberrants, fond non nul… → qc_flags.csv</a:t>
            </a:r>
            <a:endParaRPr lang="en-US" sz="1250" dirty="0"/>
          </a:p>
        </p:txBody>
      </p:sp>
      <p:sp>
        <p:nvSpPr>
          <p:cNvPr id="28" name="Text 26"/>
          <p:cNvSpPr txBox="1"/>
          <p:nvPr/>
        </p:nvSpPr>
        <p:spPr>
          <a:xfrm>
            <a:off x="7543617" y="4526280"/>
            <a:ext cx="1761683" cy="548640"/>
          </a:xfrm>
          <a:prstGeom prst="rect">
            <a:avLst/>
          </a:prstGeom>
          <a:noFill/>
          <a:ln/>
        </p:spPr>
        <p:txBody>
          <a:bodyPr wrap="square" lIns="0" tIns="0" rIns="0" bIns="0" rtlCol="0" anchor="b"/>
          <a:lstStyle/>
          <a:p>
            <a:pPr indent="0" marL="0">
              <a:buNone/>
            </a:pPr>
            <a:r>
              <a:rPr lang="en-US" sz="1100" dirty="0">
                <a:solidFill>
                  <a:srgbClr val="2A78D6"/>
                </a:solidFill>
                <a:latin typeface="Calibri" pitchFamily="34" charset="0"/>
                <a:ea typeface="Calibri" pitchFamily="34" charset="-122"/>
                <a:cs typeface="Calibri" pitchFamily="34" charset="-120"/>
              </a:rPr>
              <a:t>04_qc_report.py</a:t>
            </a:r>
            <a:endParaRPr lang="en-US" sz="1100" dirty="0"/>
          </a:p>
        </p:txBody>
      </p:sp>
      <p:sp>
        <p:nvSpPr>
          <p:cNvPr id="29" name="Shape 27"/>
          <p:cNvSpPr/>
          <p:nvPr/>
        </p:nvSpPr>
        <p:spPr>
          <a:xfrm>
            <a:off x="9607052" y="1554480"/>
            <a:ext cx="2036003" cy="3657600"/>
          </a:xfrm>
          <a:prstGeom prst="roundRect">
            <a:avLst>
              <a:gd name="adj" fmla="val 3593"/>
            </a:avLst>
          </a:prstGeom>
          <a:solidFill>
            <a:srgbClr val="F2F4F7"/>
          </a:solidFill>
          <a:ln w="12700">
            <a:solidFill>
              <a:srgbClr val="F2F4F7"/>
            </a:solidFill>
            <a:prstDash val="solid"/>
          </a:ln>
        </p:spPr>
      </p:sp>
      <p:sp>
        <p:nvSpPr>
          <p:cNvPr id="30" name="Shape 28"/>
          <p:cNvSpPr/>
          <p:nvPr/>
        </p:nvSpPr>
        <p:spPr>
          <a:xfrm>
            <a:off x="9808220" y="1783080"/>
            <a:ext cx="502920" cy="502920"/>
          </a:xfrm>
          <a:prstGeom prst="ellipse">
            <a:avLst/>
          </a:prstGeom>
          <a:solidFill>
            <a:srgbClr val="EB6834"/>
          </a:solidFill>
          <a:ln w="12700">
            <a:solidFill>
              <a:srgbClr val="EB6834"/>
            </a:solidFill>
            <a:prstDash val="solid"/>
          </a:ln>
        </p:spPr>
      </p:sp>
      <p:sp>
        <p:nvSpPr>
          <p:cNvPr id="31" name="Text 29"/>
          <p:cNvSpPr txBox="1"/>
          <p:nvPr/>
        </p:nvSpPr>
        <p:spPr>
          <a:xfrm>
            <a:off x="9808220" y="17830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2" name="Text 30"/>
          <p:cNvSpPr txBox="1"/>
          <p:nvPr/>
        </p:nvSpPr>
        <p:spPr>
          <a:xfrm>
            <a:off x="9808220" y="2423160"/>
            <a:ext cx="1670243" cy="640080"/>
          </a:xfrm>
          <a:prstGeom prst="rect">
            <a:avLst/>
          </a:prstGeom>
          <a:noFill/>
          <a:ln/>
        </p:spPr>
        <p:txBody>
          <a:bodyPr wrap="square" lIns="0" tIns="0" rIns="0" bIns="0" rtlCol="0" anchor="t"/>
          <a:lstStyle/>
          <a:p>
            <a:pPr indent="0" marL="0">
              <a:buNone/>
            </a:pPr>
            <a:r>
              <a:rPr lang="en-US" sz="1600" b="1" dirty="0">
                <a:solidFill>
                  <a:srgbClr val="1A2230"/>
                </a:solidFill>
                <a:latin typeface="Calibri" pitchFamily="34" charset="0"/>
                <a:ea typeface="Calibri" pitchFamily="34" charset="-122"/>
                <a:cs typeface="Calibri" pitchFamily="34" charset="-120"/>
              </a:rPr>
              <a:t>Analyse par centre</a:t>
            </a:r>
            <a:endParaRPr lang="en-US" sz="1600" dirty="0"/>
          </a:p>
        </p:txBody>
      </p:sp>
      <p:sp>
        <p:nvSpPr>
          <p:cNvPr id="33" name="Text 31"/>
          <p:cNvSpPr txBox="1"/>
          <p:nvPr/>
        </p:nvSpPr>
        <p:spPr>
          <a:xfrm>
            <a:off x="9808220" y="3063240"/>
            <a:ext cx="1670243" cy="1417320"/>
          </a:xfrm>
          <a:prstGeom prst="rect">
            <a:avLst/>
          </a:prstGeom>
          <a:noFill/>
          <a:ln/>
        </p:spPr>
        <p:txBody>
          <a:bodyPr wrap="square" lIns="0" tIns="0" rIns="0" bIns="0" rtlCol="0" anchor="t"/>
          <a:lstStyle/>
          <a:p>
            <a:pPr indent="0" marL="0">
              <a:buNone/>
            </a:pPr>
            <a:r>
              <a:rPr lang="en-US" sz="1250" dirty="0">
                <a:solidFill>
                  <a:srgbClr val="4A5566"/>
                </a:solidFill>
                <a:latin typeface="Calibri" pitchFamily="34" charset="0"/>
                <a:ea typeface="Calibri" pitchFamily="34" charset="-122"/>
                <a:cs typeface="Calibri" pitchFamily="34" charset="-120"/>
              </a:rPr>
              <a:t>Statistiques et histogrammes par centre, exemples d'images, test « empreinte du centre ».</a:t>
            </a:r>
            <a:endParaRPr lang="en-US" sz="1250" dirty="0"/>
          </a:p>
        </p:txBody>
      </p:sp>
      <p:sp>
        <p:nvSpPr>
          <p:cNvPr id="34" name="Text 32"/>
          <p:cNvSpPr txBox="1"/>
          <p:nvPr/>
        </p:nvSpPr>
        <p:spPr>
          <a:xfrm>
            <a:off x="9808220" y="4526280"/>
            <a:ext cx="1761683" cy="548640"/>
          </a:xfrm>
          <a:prstGeom prst="rect">
            <a:avLst/>
          </a:prstGeom>
          <a:noFill/>
          <a:ln/>
        </p:spPr>
        <p:txBody>
          <a:bodyPr wrap="square" lIns="0" tIns="0" rIns="0" bIns="0" rtlCol="0" anchor="b"/>
          <a:lstStyle/>
          <a:p>
            <a:pPr indent="0" marL="0">
              <a:buNone/>
            </a:pPr>
            <a:r>
              <a:rPr lang="en-US" sz="1100" dirty="0">
                <a:solidFill>
                  <a:srgbClr val="2A78D6"/>
                </a:solidFill>
                <a:latin typeface="Calibri" pitchFamily="34" charset="0"/>
                <a:ea typeface="Calibri" pitchFamily="34" charset="-122"/>
                <a:cs typeface="Calibri" pitchFamily="34" charset="-120"/>
              </a:rPr>
              <a:t>02_figures.py</a:t>
            </a:r>
            <a:endParaRPr lang="en-US" sz="1100" dirty="0"/>
          </a:p>
          <a:p>
            <a:pPr indent="0" marL="0">
              <a:buNone/>
            </a:pPr>
            <a:r>
              <a:rPr lang="en-US" sz="1100" dirty="0">
                <a:solidFill>
                  <a:srgbClr val="2A78D6"/>
                </a:solidFill>
                <a:latin typeface="Calibri" pitchFamily="34" charset="0"/>
                <a:ea typeface="Calibri" pitchFamily="34" charset="-122"/>
                <a:cs typeface="Calibri" pitchFamily="34" charset="-120"/>
              </a:rPr>
              <a:t>03_site_fingerprint_test.py</a:t>
            </a:r>
            <a:endParaRPr lang="en-US" sz="1100" dirty="0"/>
          </a:p>
        </p:txBody>
      </p:sp>
      <p:sp>
        <p:nvSpPr>
          <p:cNvPr id="35" name="Text 33"/>
          <p:cNvSpPr txBox="1"/>
          <p:nvPr/>
        </p:nvSpPr>
        <p:spPr>
          <a:xfrm>
            <a:off x="548640" y="5532120"/>
            <a:ext cx="11094415" cy="365760"/>
          </a:xfrm>
          <a:prstGeom prst="rect">
            <a:avLst/>
          </a:prstGeom>
          <a:noFill/>
          <a:ln/>
        </p:spPr>
        <p:txBody>
          <a:bodyPr wrap="square" lIns="0" tIns="0" rIns="0" bIns="0" rtlCol="0" anchor="ctr"/>
          <a:lstStyle/>
          <a:p>
            <a:pPr indent="0" marL="0">
              <a:buNone/>
            </a:pPr>
            <a:r>
              <a:rPr lang="en-US" sz="1250" dirty="0">
                <a:solidFill>
                  <a:srgbClr val="7C8595"/>
                </a:solidFill>
                <a:latin typeface="Calibri" pitchFamily="34" charset="0"/>
                <a:ea typeface="Calibri" pitchFamily="34" charset="-122"/>
                <a:cs typeface="Calibri" pitchFamily="34" charset="-120"/>
              </a:rPr>
              <a:t>Outils : Python · nibabel · NumPy · pandas · SciPy · scikit-learn · matplotlib — tout est reproductible dans le dossier exploration/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9768"/>
            <a:ext cx="457200" cy="457200"/>
          </a:xfrm>
          <a:prstGeom prst="ellipse">
            <a:avLst/>
          </a:prstGeom>
          <a:solidFill>
            <a:srgbClr val="EB6834"/>
          </a:solidFill>
          <a:ln w="12700">
            <a:solidFill>
              <a:srgbClr val="EB6834"/>
            </a:solidFill>
            <a:prstDash val="solid"/>
          </a:ln>
        </p:spPr>
      </p:sp>
      <p:sp>
        <p:nvSpPr>
          <p:cNvPr id="3" name="Text 1"/>
          <p:cNvSpPr txBox="1"/>
          <p:nvPr/>
        </p:nvSpPr>
        <p:spPr>
          <a:xfrm>
            <a:off x="548640" y="4297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4" name="Text 2"/>
          <p:cNvSpPr txBox="1"/>
          <p:nvPr/>
        </p:nvSpPr>
        <p:spPr>
          <a:xfrm>
            <a:off x="1188720" y="310896"/>
            <a:ext cx="10454335" cy="694944"/>
          </a:xfrm>
          <a:prstGeom prst="rect">
            <a:avLst/>
          </a:prstGeom>
          <a:noFill/>
          <a:ln/>
        </p:spPr>
        <p:txBody>
          <a:bodyPr wrap="square" lIns="0" tIns="0" rIns="0" bIns="0" rtlCol="0" anchor="ctr"/>
          <a:lstStyle/>
          <a:p>
            <a:pPr indent="0" marL="0">
              <a:buNone/>
            </a:pPr>
            <a:r>
              <a:rPr lang="en-US" sz="3000" b="1" dirty="0">
                <a:solidFill>
                  <a:srgbClr val="1A2230"/>
                </a:solidFill>
                <a:latin typeface="Calibri" pitchFamily="34" charset="0"/>
                <a:ea typeface="Calibri" pitchFamily="34" charset="-122"/>
                <a:cs typeface="Calibri" pitchFamily="34" charset="-120"/>
              </a:rPr>
              <a:t>Des centres très déséquilibrés</a:t>
            </a:r>
            <a:endParaRPr lang="en-US" sz="3000" dirty="0"/>
          </a:p>
        </p:txBody>
      </p:sp>
      <p:graphicFrame>
        <p:nvGraphicFramePr>
          <p:cNvPr id="5" name="Chart 0" descr=""/>
          <p:cNvGraphicFramePr/>
          <p:nvPr/>
        </p:nvGraphicFramePr>
        <p:xfrm>
          <a:off x="548640" y="1188720"/>
          <a:ext cx="6949440" cy="52120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955280" y="1325880"/>
            <a:ext cx="3657600" cy="668215"/>
          </a:xfrm>
          <a:prstGeom prst="rect">
            <a:avLst/>
          </a:prstGeom>
          <a:noFill/>
          <a:ln/>
        </p:spPr>
        <p:txBody>
          <a:bodyPr wrap="square" lIns="0" tIns="0" rIns="0" bIns="0" rtlCol="0" anchor="b"/>
          <a:lstStyle/>
          <a:p>
            <a:pPr indent="0" marL="0">
              <a:buNone/>
            </a:pPr>
            <a:r>
              <a:rPr lang="en-US" sz="3800" b="1" dirty="0">
                <a:solidFill>
                  <a:srgbClr val="EB6834"/>
                </a:solidFill>
                <a:latin typeface="Calibri" pitchFamily="34" charset="0"/>
                <a:ea typeface="Calibri" pitchFamily="34" charset="-122"/>
                <a:cs typeface="Calibri" pitchFamily="34" charset="-120"/>
              </a:rPr>
              <a:t>26</a:t>
            </a:r>
            <a:endParaRPr lang="en-US" sz="3800" dirty="0"/>
          </a:p>
        </p:txBody>
      </p:sp>
      <p:sp>
        <p:nvSpPr>
          <p:cNvPr id="7" name="Text 4"/>
          <p:cNvSpPr txBox="1"/>
          <p:nvPr/>
        </p:nvSpPr>
        <p:spPr>
          <a:xfrm>
            <a:off x="7955280" y="2048959"/>
            <a:ext cx="3657600" cy="566928"/>
          </a:xfrm>
          <a:prstGeom prst="rect">
            <a:avLst/>
          </a:prstGeom>
          <a:noFill/>
          <a:ln/>
        </p:spPr>
        <p:txBody>
          <a:bodyPr wrap="square" lIns="0" tIns="0" rIns="0" bIns="0" rtlCol="0" anchor="t"/>
          <a:lstStyle/>
          <a:p>
            <a:pPr indent="0" marL="0">
              <a:buNone/>
            </a:pPr>
            <a:r>
              <a:rPr lang="en-US" sz="1300" dirty="0">
                <a:solidFill>
                  <a:srgbClr val="4A5566"/>
                </a:solidFill>
                <a:latin typeface="Calibri" pitchFamily="34" charset="0"/>
                <a:ea typeface="Calibri" pitchFamily="34" charset="-122"/>
                <a:cs typeface="Calibri" pitchFamily="34" charset="-120"/>
              </a:rPr>
              <a:t>centres ont ≥ 20 patients (1 177 scans, 81 %)</a:t>
            </a:r>
            <a:endParaRPr lang="en-US" sz="1300" dirty="0"/>
          </a:p>
        </p:txBody>
      </p:sp>
      <p:sp>
        <p:nvSpPr>
          <p:cNvPr id="8" name="Text 5"/>
          <p:cNvSpPr txBox="1"/>
          <p:nvPr/>
        </p:nvSpPr>
        <p:spPr>
          <a:xfrm>
            <a:off x="7955280" y="2606040"/>
            <a:ext cx="3657600" cy="668215"/>
          </a:xfrm>
          <a:prstGeom prst="rect">
            <a:avLst/>
          </a:prstGeom>
          <a:noFill/>
          <a:ln/>
        </p:spPr>
        <p:txBody>
          <a:bodyPr wrap="square" lIns="0" tIns="0" rIns="0" bIns="0" rtlCol="0" anchor="b"/>
          <a:lstStyle/>
          <a:p>
            <a:pPr indent="0" marL="0">
              <a:buNone/>
            </a:pPr>
            <a:r>
              <a:rPr lang="en-US" sz="3800" b="1" dirty="0">
                <a:solidFill>
                  <a:srgbClr val="EB6834"/>
                </a:solidFill>
                <a:latin typeface="Calibri" pitchFamily="34" charset="0"/>
                <a:ea typeface="Calibri" pitchFamily="34" charset="-122"/>
                <a:cs typeface="Calibri" pitchFamily="34" charset="-120"/>
              </a:rPr>
              <a:t>14</a:t>
            </a:r>
            <a:endParaRPr lang="en-US" sz="3800" dirty="0"/>
          </a:p>
        </p:txBody>
      </p:sp>
      <p:sp>
        <p:nvSpPr>
          <p:cNvPr id="9" name="Text 6"/>
          <p:cNvSpPr txBox="1"/>
          <p:nvPr/>
        </p:nvSpPr>
        <p:spPr>
          <a:xfrm>
            <a:off x="7955280" y="3329119"/>
            <a:ext cx="3657600" cy="566928"/>
          </a:xfrm>
          <a:prstGeom prst="rect">
            <a:avLst/>
          </a:prstGeom>
          <a:noFill/>
          <a:ln/>
        </p:spPr>
        <p:txBody>
          <a:bodyPr wrap="square" lIns="0" tIns="0" rIns="0" bIns="0" rtlCol="0" anchor="t"/>
          <a:lstStyle/>
          <a:p>
            <a:pPr indent="0" marL="0">
              <a:buNone/>
            </a:pPr>
            <a:r>
              <a:rPr lang="en-US" sz="1300" dirty="0">
                <a:solidFill>
                  <a:srgbClr val="4A5566"/>
                </a:solidFill>
                <a:latin typeface="Calibri" pitchFamily="34" charset="0"/>
                <a:ea typeface="Calibri" pitchFamily="34" charset="-122"/>
                <a:cs typeface="Calibri" pitchFamily="34" charset="-120"/>
              </a:rPr>
              <a:t>centres ont &lt; 10 patients, dont 8 avec &lt; 5</a:t>
            </a:r>
            <a:endParaRPr lang="en-US" sz="1300" dirty="0"/>
          </a:p>
        </p:txBody>
      </p:sp>
      <p:sp>
        <p:nvSpPr>
          <p:cNvPr id="10" name="Text 7"/>
          <p:cNvSpPr txBox="1"/>
          <p:nvPr/>
        </p:nvSpPr>
        <p:spPr>
          <a:xfrm>
            <a:off x="7955280" y="3886200"/>
            <a:ext cx="3657600" cy="668215"/>
          </a:xfrm>
          <a:prstGeom prst="rect">
            <a:avLst/>
          </a:prstGeom>
          <a:noFill/>
          <a:ln/>
        </p:spPr>
        <p:txBody>
          <a:bodyPr wrap="square" lIns="0" tIns="0" rIns="0" bIns="0" rtlCol="0" anchor="b"/>
          <a:lstStyle/>
          <a:p>
            <a:pPr indent="0" marL="0">
              <a:buNone/>
            </a:pPr>
            <a:r>
              <a:rPr lang="en-US" sz="3800" b="1" dirty="0">
                <a:solidFill>
                  <a:srgbClr val="EB6834"/>
                </a:solidFill>
                <a:latin typeface="Calibri" pitchFamily="34" charset="0"/>
                <a:ea typeface="Calibri" pitchFamily="34" charset="-122"/>
                <a:cs typeface="Calibri" pitchFamily="34" charset="-120"/>
              </a:rPr>
              <a:t>12 %</a:t>
            </a:r>
            <a:endParaRPr lang="en-US" sz="3800" dirty="0"/>
          </a:p>
        </p:txBody>
      </p:sp>
      <p:sp>
        <p:nvSpPr>
          <p:cNvPr id="11" name="Text 8"/>
          <p:cNvSpPr txBox="1"/>
          <p:nvPr/>
        </p:nvSpPr>
        <p:spPr>
          <a:xfrm>
            <a:off x="7955280" y="4609279"/>
            <a:ext cx="3657600" cy="822960"/>
          </a:xfrm>
          <a:prstGeom prst="rect">
            <a:avLst/>
          </a:prstGeom>
          <a:noFill/>
          <a:ln/>
        </p:spPr>
        <p:txBody>
          <a:bodyPr wrap="square" lIns="0" tIns="0" rIns="0" bIns="0" rtlCol="0" anchor="t"/>
          <a:lstStyle/>
          <a:p>
            <a:pPr indent="0" marL="0">
              <a:buNone/>
            </a:pPr>
            <a:r>
              <a:rPr lang="en-US" sz="1300" dirty="0">
                <a:solidFill>
                  <a:srgbClr val="4A5566"/>
                </a:solidFill>
                <a:latin typeface="Calibri" pitchFamily="34" charset="0"/>
                <a:ea typeface="Calibri" pitchFamily="34" charset="-122"/>
                <a:cs typeface="Calibri" pitchFamily="34" charset="-120"/>
              </a:rPr>
              <a:t>des scans viennent de SOOP, un seul centre, entièrement nouveau (comme R069 et R059)</a:t>
            </a:r>
            <a:endParaRPr lang="en-US" sz="1300" dirty="0"/>
          </a:p>
        </p:txBody>
      </p:sp>
      <p:sp>
        <p:nvSpPr>
          <p:cNvPr id="12" name="Text 9"/>
          <p:cNvSpPr txBox="1"/>
          <p:nvPr/>
        </p:nvSpPr>
        <p:spPr>
          <a:xfrm>
            <a:off x="7955280" y="5440680"/>
            <a:ext cx="3657600" cy="822960"/>
          </a:xfrm>
          <a:prstGeom prst="rect">
            <a:avLst/>
          </a:prstGeom>
          <a:noFill/>
          <a:ln/>
        </p:spPr>
        <p:txBody>
          <a:bodyPr wrap="square" lIns="0" tIns="0" rIns="0" bIns="0" rtlCol="0" anchor="t"/>
          <a:lstStyle/>
          <a:p>
            <a:pPr indent="0" marL="0">
              <a:buNone/>
            </a:pPr>
            <a:r>
              <a:rPr lang="en-US" sz="1400" b="1" dirty="0">
                <a:solidFill>
                  <a:srgbClr val="1A2230"/>
                </a:solidFill>
                <a:latin typeface="Calibri" pitchFamily="34" charset="0"/>
                <a:ea typeface="Calibri" pitchFamily="34" charset="-122"/>
                <a:cs typeface="Calibri" pitchFamily="34" charset="-120"/>
              </a:rPr>
              <a:t>→ Le découpage leave-centers-out devra garder les grands centres seuls et regrouper les petits.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9768"/>
            <a:ext cx="457200" cy="457200"/>
          </a:xfrm>
          <a:prstGeom prst="ellipse">
            <a:avLst/>
          </a:prstGeom>
          <a:solidFill>
            <a:srgbClr val="EB6834"/>
          </a:solidFill>
          <a:ln w="12700">
            <a:solidFill>
              <a:srgbClr val="EB6834"/>
            </a:solidFill>
            <a:prstDash val="solid"/>
          </a:ln>
        </p:spPr>
      </p:sp>
      <p:sp>
        <p:nvSpPr>
          <p:cNvPr id="3" name="Text 1"/>
          <p:cNvSpPr txBox="1"/>
          <p:nvPr/>
        </p:nvSpPr>
        <p:spPr>
          <a:xfrm>
            <a:off x="548640" y="4297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4" name="Text 2"/>
          <p:cNvSpPr txBox="1"/>
          <p:nvPr/>
        </p:nvSpPr>
        <p:spPr>
          <a:xfrm>
            <a:off x="1188720" y="310896"/>
            <a:ext cx="10454335" cy="694944"/>
          </a:xfrm>
          <a:prstGeom prst="rect">
            <a:avLst/>
          </a:prstGeom>
          <a:noFill/>
          <a:ln/>
        </p:spPr>
        <p:txBody>
          <a:bodyPr wrap="square" lIns="0" tIns="0" rIns="0" bIns="0" rtlCol="0" anchor="ctr"/>
          <a:lstStyle/>
          <a:p>
            <a:pPr indent="0" marL="0">
              <a:buNone/>
            </a:pPr>
            <a:r>
              <a:rPr lang="en-US" sz="3000" b="1" dirty="0">
                <a:solidFill>
                  <a:srgbClr val="1A2230"/>
                </a:solidFill>
                <a:latin typeface="Calibri" pitchFamily="34" charset="0"/>
                <a:ea typeface="Calibri" pitchFamily="34" charset="-122"/>
                <a:cs typeface="Calibri" pitchFamily="34" charset="-120"/>
              </a:rPr>
              <a:t>Chaque centre produit des images différentes</a:t>
            </a:r>
            <a:endParaRPr lang="en-US" sz="3000" dirty="0"/>
          </a:p>
        </p:txBody>
      </p:sp>
      <p:pic>
        <p:nvPicPr>
          <p:cNvPr id="5" name="Image 0" descr="Une coupe axiale par centre pour les 10 plus grands centres, lésion entourée en orange">    </p:cNvPr>
          <p:cNvPicPr>
            <a:picLocks noChangeAspect="1"/>
          </p:cNvPicPr>
          <p:nvPr/>
        </p:nvPicPr>
        <p:blipFill>
          <a:blip r:embed="rId1"/>
          <a:stretch>
            <a:fillRect/>
          </a:stretch>
        </p:blipFill>
        <p:spPr>
          <a:xfrm>
            <a:off x="1515683" y="1143000"/>
            <a:ext cx="9160329" cy="4114800"/>
          </a:xfrm>
          <a:prstGeom prst="rect">
            <a:avLst/>
          </a:prstGeom>
        </p:spPr>
      </p:pic>
      <p:sp>
        <p:nvSpPr>
          <p:cNvPr id="6" name="Text 3"/>
          <p:cNvSpPr txBox="1"/>
          <p:nvPr/>
        </p:nvSpPr>
        <p:spPr>
          <a:xfrm>
            <a:off x="548640" y="5394960"/>
            <a:ext cx="2602154" cy="492369"/>
          </a:xfrm>
          <a:prstGeom prst="rect">
            <a:avLst/>
          </a:prstGeom>
          <a:noFill/>
          <a:ln/>
        </p:spPr>
        <p:txBody>
          <a:bodyPr wrap="square" lIns="0" tIns="0" rIns="0" bIns="0" rtlCol="0" anchor="b"/>
          <a:lstStyle/>
          <a:p>
            <a:pPr indent="0" marL="0">
              <a:buNone/>
            </a:pPr>
            <a:r>
              <a:rPr lang="en-US" sz="2800" b="1" dirty="0">
                <a:solidFill>
                  <a:srgbClr val="EB6834"/>
                </a:solidFill>
                <a:latin typeface="Calibri" pitchFamily="34" charset="0"/>
                <a:ea typeface="Calibri" pitchFamily="34" charset="-122"/>
                <a:cs typeface="Calibri" pitchFamily="34" charset="-120"/>
              </a:rPr>
              <a:t>231</a:t>
            </a:r>
            <a:endParaRPr lang="en-US" sz="2800" dirty="0"/>
          </a:p>
        </p:txBody>
      </p:sp>
      <p:sp>
        <p:nvSpPr>
          <p:cNvPr id="7" name="Text 4"/>
          <p:cNvSpPr txBox="1"/>
          <p:nvPr/>
        </p:nvSpPr>
        <p:spPr>
          <a:xfrm>
            <a:off x="548640" y="5942193"/>
            <a:ext cx="2602154" cy="457200"/>
          </a:xfrm>
          <a:prstGeom prst="rect">
            <a:avLst/>
          </a:prstGeom>
          <a:noFill/>
          <a:ln/>
        </p:spPr>
        <p:txBody>
          <a:bodyPr wrap="square" lIns="0" tIns="0" rIns="0" bIns="0" rtlCol="0" anchor="t"/>
          <a:lstStyle/>
          <a:p>
            <a:pPr indent="0" marL="0">
              <a:buNone/>
            </a:pPr>
            <a:r>
              <a:rPr lang="en-US" sz="1250" dirty="0">
                <a:solidFill>
                  <a:srgbClr val="4A5566"/>
                </a:solidFill>
                <a:latin typeface="Calibri" pitchFamily="34" charset="0"/>
                <a:ea typeface="Calibri" pitchFamily="34" charset="-122"/>
                <a:cs typeface="Calibri" pitchFamily="34" charset="-120"/>
              </a:rPr>
              <a:t>tailles de matrice différentes</a:t>
            </a:r>
            <a:endParaRPr lang="en-US" sz="1250" dirty="0"/>
          </a:p>
        </p:txBody>
      </p:sp>
      <p:sp>
        <p:nvSpPr>
          <p:cNvPr id="8" name="Text 5"/>
          <p:cNvSpPr txBox="1"/>
          <p:nvPr/>
        </p:nvSpPr>
        <p:spPr>
          <a:xfrm>
            <a:off x="3379394" y="5394960"/>
            <a:ext cx="2602154" cy="492369"/>
          </a:xfrm>
          <a:prstGeom prst="rect">
            <a:avLst/>
          </a:prstGeom>
          <a:noFill/>
          <a:ln/>
        </p:spPr>
        <p:txBody>
          <a:bodyPr wrap="square" lIns="0" tIns="0" rIns="0" bIns="0" rtlCol="0" anchor="b"/>
          <a:lstStyle/>
          <a:p>
            <a:pPr indent="0" marL="0">
              <a:buNone/>
            </a:pPr>
            <a:r>
              <a:rPr lang="en-US" sz="2800" b="1" dirty="0">
                <a:solidFill>
                  <a:srgbClr val="EB6834"/>
                </a:solidFill>
                <a:latin typeface="Calibri" pitchFamily="34" charset="0"/>
                <a:ea typeface="Calibri" pitchFamily="34" charset="-122"/>
                <a:cs typeface="Calibri" pitchFamily="34" charset="-120"/>
              </a:rPr>
              <a:t>43</a:t>
            </a:r>
            <a:endParaRPr lang="en-US" sz="2800" dirty="0"/>
          </a:p>
        </p:txBody>
      </p:sp>
      <p:sp>
        <p:nvSpPr>
          <p:cNvPr id="9" name="Text 6"/>
          <p:cNvSpPr txBox="1"/>
          <p:nvPr/>
        </p:nvSpPr>
        <p:spPr>
          <a:xfrm>
            <a:off x="3379394" y="5942193"/>
            <a:ext cx="2602154" cy="457200"/>
          </a:xfrm>
          <a:prstGeom prst="rect">
            <a:avLst/>
          </a:prstGeom>
          <a:noFill/>
          <a:ln/>
        </p:spPr>
        <p:txBody>
          <a:bodyPr wrap="square" lIns="0" tIns="0" rIns="0" bIns="0" rtlCol="0" anchor="t"/>
          <a:lstStyle/>
          <a:p>
            <a:pPr indent="0" marL="0">
              <a:buNone/>
            </a:pPr>
            <a:r>
              <a:rPr lang="en-US" sz="1250" dirty="0">
                <a:solidFill>
                  <a:srgbClr val="4A5566"/>
                </a:solidFill>
                <a:latin typeface="Calibri" pitchFamily="34" charset="0"/>
                <a:ea typeface="Calibri" pitchFamily="34" charset="-122"/>
                <a:cs typeface="Calibri" pitchFamily="34" charset="-120"/>
              </a:rPr>
              <a:t>tailles de voxel (0,03 à 5,3 mm³)</a:t>
            </a:r>
            <a:endParaRPr lang="en-US" sz="1250" dirty="0"/>
          </a:p>
        </p:txBody>
      </p:sp>
      <p:sp>
        <p:nvSpPr>
          <p:cNvPr id="10" name="Text 7"/>
          <p:cNvSpPr txBox="1"/>
          <p:nvPr/>
        </p:nvSpPr>
        <p:spPr>
          <a:xfrm>
            <a:off x="6210148" y="5394960"/>
            <a:ext cx="2602154" cy="492369"/>
          </a:xfrm>
          <a:prstGeom prst="rect">
            <a:avLst/>
          </a:prstGeom>
          <a:noFill/>
          <a:ln/>
        </p:spPr>
        <p:txBody>
          <a:bodyPr wrap="square" lIns="0" tIns="0" rIns="0" bIns="0" rtlCol="0" anchor="b"/>
          <a:lstStyle/>
          <a:p>
            <a:pPr indent="0" marL="0">
              <a:buNone/>
            </a:pPr>
            <a:r>
              <a:rPr lang="en-US" sz="2800" b="1" dirty="0">
                <a:solidFill>
                  <a:srgbClr val="EB6834"/>
                </a:solidFill>
                <a:latin typeface="Calibri" pitchFamily="34" charset="0"/>
                <a:ea typeface="Calibri" pitchFamily="34" charset="-122"/>
                <a:cs typeface="Calibri" pitchFamily="34" charset="-120"/>
              </a:rPr>
              <a:t>4</a:t>
            </a:r>
            <a:endParaRPr lang="en-US" sz="2800" dirty="0"/>
          </a:p>
        </p:txBody>
      </p:sp>
      <p:sp>
        <p:nvSpPr>
          <p:cNvPr id="11" name="Text 8"/>
          <p:cNvSpPr txBox="1"/>
          <p:nvPr/>
        </p:nvSpPr>
        <p:spPr>
          <a:xfrm>
            <a:off x="6210148" y="5942193"/>
            <a:ext cx="2602154" cy="457200"/>
          </a:xfrm>
          <a:prstGeom prst="rect">
            <a:avLst/>
          </a:prstGeom>
          <a:noFill/>
          <a:ln/>
        </p:spPr>
        <p:txBody>
          <a:bodyPr wrap="square" lIns="0" tIns="0" rIns="0" bIns="0" rtlCol="0" anchor="t"/>
          <a:lstStyle/>
          <a:p>
            <a:pPr indent="0" marL="0">
              <a:buNone/>
            </a:pPr>
            <a:r>
              <a:rPr lang="en-US" sz="1250" dirty="0">
                <a:solidFill>
                  <a:srgbClr val="4A5566"/>
                </a:solidFill>
                <a:latin typeface="Calibri" pitchFamily="34" charset="0"/>
                <a:ea typeface="Calibri" pitchFamily="34" charset="-122"/>
                <a:cs typeface="Calibri" pitchFamily="34" charset="-120"/>
              </a:rPr>
              <a:t>orientations : RAS 869 · LAS 575 · PSR/PSL 9</a:t>
            </a:r>
            <a:endParaRPr lang="en-US" sz="1250" dirty="0"/>
          </a:p>
        </p:txBody>
      </p:sp>
      <p:sp>
        <p:nvSpPr>
          <p:cNvPr id="12" name="Text 9"/>
          <p:cNvSpPr txBox="1"/>
          <p:nvPr/>
        </p:nvSpPr>
        <p:spPr>
          <a:xfrm>
            <a:off x="9040901" y="5394960"/>
            <a:ext cx="2602154" cy="492369"/>
          </a:xfrm>
          <a:prstGeom prst="rect">
            <a:avLst/>
          </a:prstGeom>
          <a:noFill/>
          <a:ln/>
        </p:spPr>
        <p:txBody>
          <a:bodyPr wrap="square" lIns="0" tIns="0" rIns="0" bIns="0" rtlCol="0" anchor="b"/>
          <a:lstStyle/>
          <a:p>
            <a:pPr indent="0" marL="0">
              <a:buNone/>
            </a:pPr>
            <a:r>
              <a:rPr lang="en-US" sz="2800" b="1" dirty="0">
                <a:solidFill>
                  <a:srgbClr val="EB6834"/>
                </a:solidFill>
                <a:latin typeface="Calibri" pitchFamily="34" charset="0"/>
                <a:ea typeface="Calibri" pitchFamily="34" charset="-122"/>
                <a:cs typeface="Calibri" pitchFamily="34" charset="-120"/>
              </a:rPr>
              <a:t>×50 000</a:t>
            </a:r>
            <a:endParaRPr lang="en-US" sz="2800" dirty="0"/>
          </a:p>
        </p:txBody>
      </p:sp>
      <p:sp>
        <p:nvSpPr>
          <p:cNvPr id="13" name="Text 10"/>
          <p:cNvSpPr txBox="1"/>
          <p:nvPr/>
        </p:nvSpPr>
        <p:spPr>
          <a:xfrm>
            <a:off x="9040901" y="5942193"/>
            <a:ext cx="2602154" cy="457200"/>
          </a:xfrm>
          <a:prstGeom prst="rect">
            <a:avLst/>
          </a:prstGeom>
          <a:noFill/>
          <a:ln/>
        </p:spPr>
        <p:txBody>
          <a:bodyPr wrap="square" lIns="0" tIns="0" rIns="0" bIns="0" rtlCol="0" anchor="t"/>
          <a:lstStyle/>
          <a:p>
            <a:pPr indent="0" marL="0">
              <a:buNone/>
            </a:pPr>
            <a:r>
              <a:rPr lang="en-US" sz="1250" dirty="0">
                <a:solidFill>
                  <a:srgbClr val="4A5566"/>
                </a:solidFill>
                <a:latin typeface="Calibri" pitchFamily="34" charset="0"/>
                <a:ea typeface="Calibri" pitchFamily="34" charset="-122"/>
                <a:cs typeface="Calibri" pitchFamily="34" charset="-120"/>
              </a:rPr>
              <a:t>écart d'échelle d'intensité brute entre centres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9768"/>
            <a:ext cx="457200" cy="457200"/>
          </a:xfrm>
          <a:prstGeom prst="ellipse">
            <a:avLst/>
          </a:prstGeom>
          <a:solidFill>
            <a:srgbClr val="EB6834"/>
          </a:solidFill>
          <a:ln w="12700">
            <a:solidFill>
              <a:srgbClr val="EB6834"/>
            </a:solidFill>
            <a:prstDash val="solid"/>
          </a:ln>
        </p:spPr>
      </p:sp>
      <p:sp>
        <p:nvSpPr>
          <p:cNvPr id="3" name="Text 1"/>
          <p:cNvSpPr txBox="1"/>
          <p:nvPr/>
        </p:nvSpPr>
        <p:spPr>
          <a:xfrm>
            <a:off x="548640" y="4297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4" name="Text 2"/>
          <p:cNvSpPr txBox="1"/>
          <p:nvPr/>
        </p:nvSpPr>
        <p:spPr>
          <a:xfrm>
            <a:off x="1188720" y="310896"/>
            <a:ext cx="10454335" cy="694944"/>
          </a:xfrm>
          <a:prstGeom prst="rect">
            <a:avLst/>
          </a:prstGeom>
          <a:noFill/>
          <a:ln/>
        </p:spPr>
        <p:txBody>
          <a:bodyPr wrap="square" lIns="0" tIns="0" rIns="0" bIns="0" rtlCol="0" anchor="ctr"/>
          <a:lstStyle/>
          <a:p>
            <a:pPr indent="0" marL="0">
              <a:buNone/>
            </a:pPr>
            <a:r>
              <a:rPr lang="en-US" sz="3000" b="1" dirty="0">
                <a:solidFill>
                  <a:srgbClr val="1A2230"/>
                </a:solidFill>
                <a:latin typeface="Calibri" pitchFamily="34" charset="0"/>
                <a:ea typeface="Calibri" pitchFamily="34" charset="-122"/>
                <a:cs typeface="Calibri" pitchFamily="34" charset="-120"/>
              </a:rPr>
              <a:t>Même normalisées, les intensités diffèrent selon le centre</a:t>
            </a:r>
            <a:endParaRPr lang="en-US" sz="3000" dirty="0"/>
          </a:p>
        </p:txBody>
      </p:sp>
      <p:pic>
        <p:nvPicPr>
          <p:cNvPr id="5" name="Image 0" descr="Histogrammes d'intensité normalisée de 8 centres comparés à la médiane de tous les centres">    </p:cNvPr>
          <p:cNvPicPr>
            <a:picLocks noChangeAspect="1"/>
          </p:cNvPicPr>
          <p:nvPr/>
        </p:nvPicPr>
        <p:blipFill>
          <a:blip r:embed="rId1"/>
          <a:stretch>
            <a:fillRect/>
          </a:stretch>
        </p:blipFill>
        <p:spPr>
          <a:xfrm>
            <a:off x="548640" y="1097280"/>
            <a:ext cx="11094415" cy="3295694"/>
          </a:xfrm>
          <a:prstGeom prst="rect">
            <a:avLst/>
          </a:prstGeom>
        </p:spPr>
      </p:pic>
      <p:sp>
        <p:nvSpPr>
          <p:cNvPr id="6" name="Text 3"/>
          <p:cNvSpPr txBox="1"/>
          <p:nvPr/>
        </p:nvSpPr>
        <p:spPr>
          <a:xfrm>
            <a:off x="548640" y="4438694"/>
            <a:ext cx="11094415" cy="320040"/>
          </a:xfrm>
          <a:prstGeom prst="rect">
            <a:avLst/>
          </a:prstGeom>
          <a:noFill/>
          <a:ln/>
        </p:spPr>
        <p:txBody>
          <a:bodyPr wrap="square" lIns="0" tIns="0" rIns="0" bIns="0" rtlCol="0" anchor="ctr"/>
          <a:lstStyle/>
          <a:p>
            <a:pPr indent="0" marL="0">
              <a:buNone/>
            </a:pPr>
            <a:r>
              <a:rPr lang="en-US" sz="1150" dirty="0">
                <a:solidFill>
                  <a:srgbClr val="7C8595"/>
                </a:solidFill>
                <a:latin typeface="Calibri" pitchFamily="34" charset="0"/>
                <a:ea typeface="Calibri" pitchFamily="34" charset="-122"/>
                <a:cs typeface="Calibri" pitchFamily="34" charset="-120"/>
              </a:rPr>
              <a:t>Chaque scan est divisé par son 99ᵉ percentile. Gris : médiane de tous les centres · bleu : le centre (médiane et écart interquartile).</a:t>
            </a:r>
            <a:endParaRPr lang="en-US" sz="1150" dirty="0"/>
          </a:p>
        </p:txBody>
      </p:sp>
      <p:sp>
        <p:nvSpPr>
          <p:cNvPr id="7" name="Shape 4"/>
          <p:cNvSpPr/>
          <p:nvPr/>
        </p:nvSpPr>
        <p:spPr>
          <a:xfrm>
            <a:off x="548640" y="4983480"/>
            <a:ext cx="3545738" cy="1188720"/>
          </a:xfrm>
          <a:prstGeom prst="roundRect">
            <a:avLst>
              <a:gd name="adj" fmla="val 6154"/>
            </a:avLst>
          </a:prstGeom>
          <a:solidFill>
            <a:srgbClr val="F2F4F7"/>
          </a:solidFill>
          <a:ln w="12700">
            <a:solidFill>
              <a:srgbClr val="F2F4F7"/>
            </a:solidFill>
            <a:prstDash val="solid"/>
          </a:ln>
        </p:spPr>
      </p:sp>
      <p:sp>
        <p:nvSpPr>
          <p:cNvPr id="8" name="Text 5"/>
          <p:cNvSpPr txBox="1"/>
          <p:nvPr/>
        </p:nvSpPr>
        <p:spPr>
          <a:xfrm>
            <a:off x="731520" y="5111496"/>
            <a:ext cx="3179978" cy="932688"/>
          </a:xfrm>
          <a:prstGeom prst="rect">
            <a:avLst/>
          </a:prstGeom>
          <a:noFill/>
          <a:ln/>
        </p:spPr>
        <p:txBody>
          <a:bodyPr wrap="square" lIns="0" tIns="0" rIns="0" bIns="0" rtlCol="0" anchor="t"/>
          <a:lstStyle/>
          <a:p>
            <a:pPr indent="0" marL="0">
              <a:spcAft>
                <a:spcPts val="500"/>
              </a:spcAft>
              <a:buNone/>
            </a:pPr>
            <a:r>
              <a:rPr lang="en-US" sz="1400" b="1" dirty="0">
                <a:solidFill>
                  <a:srgbClr val="1A2230"/>
                </a:solidFill>
                <a:latin typeface="Calibri" pitchFamily="34" charset="0"/>
                <a:ea typeface="Calibri" pitchFamily="34" charset="-122"/>
                <a:cs typeface="Calibri" pitchFamily="34" charset="-120"/>
              </a:rPr>
              <a:t>Proches de la moyenne</a:t>
            </a:r>
            <a:endParaRPr lang="en-US" sz="1400" dirty="0"/>
          </a:p>
          <a:p>
            <a:pPr indent="0" marL="0">
              <a:spcAft>
                <a:spcPts val="500"/>
              </a:spcAft>
              <a:buNone/>
            </a:pPr>
            <a:r>
              <a:rPr lang="en-US" sz="1250" dirty="0">
                <a:solidFill>
                  <a:srgbClr val="4A5566"/>
                </a:solidFill>
                <a:latin typeface="Calibri" pitchFamily="34" charset="0"/>
                <a:ea typeface="Calibri" pitchFamily="34" charset="-122"/>
                <a:cs typeface="Calibri" pitchFamily="34" charset="-120"/>
              </a:rPr>
              <a:t>SOOP, R009 : forme d'histogramme proche de l'ensemble des centres.</a:t>
            </a:r>
            <a:endParaRPr lang="en-US" sz="1400" dirty="0"/>
          </a:p>
        </p:txBody>
      </p:sp>
      <p:sp>
        <p:nvSpPr>
          <p:cNvPr id="9" name="Shape 6"/>
          <p:cNvSpPr/>
          <p:nvPr/>
        </p:nvSpPr>
        <p:spPr>
          <a:xfrm>
            <a:off x="4322978" y="4983480"/>
            <a:ext cx="3545738" cy="1188720"/>
          </a:xfrm>
          <a:prstGeom prst="roundRect">
            <a:avLst>
              <a:gd name="adj" fmla="val 6154"/>
            </a:avLst>
          </a:prstGeom>
          <a:solidFill>
            <a:srgbClr val="F2F4F7"/>
          </a:solidFill>
          <a:ln w="12700">
            <a:solidFill>
              <a:srgbClr val="F2F4F7"/>
            </a:solidFill>
            <a:prstDash val="solid"/>
          </a:ln>
        </p:spPr>
      </p:sp>
      <p:sp>
        <p:nvSpPr>
          <p:cNvPr id="10" name="Text 7"/>
          <p:cNvSpPr txBox="1"/>
          <p:nvPr/>
        </p:nvSpPr>
        <p:spPr>
          <a:xfrm>
            <a:off x="4505858" y="5111496"/>
            <a:ext cx="3179978" cy="932688"/>
          </a:xfrm>
          <a:prstGeom prst="rect">
            <a:avLst/>
          </a:prstGeom>
          <a:noFill/>
          <a:ln/>
        </p:spPr>
        <p:txBody>
          <a:bodyPr wrap="square" lIns="0" tIns="0" rIns="0" bIns="0" rtlCol="0" anchor="t"/>
          <a:lstStyle/>
          <a:p>
            <a:pPr indent="0" marL="0">
              <a:spcAft>
                <a:spcPts val="500"/>
              </a:spcAft>
              <a:buNone/>
            </a:pPr>
            <a:r>
              <a:rPr lang="en-US" sz="1400" b="1" dirty="0">
                <a:solidFill>
                  <a:srgbClr val="1A2230"/>
                </a:solidFill>
                <a:latin typeface="Calibri" pitchFamily="34" charset="0"/>
                <a:ea typeface="Calibri" pitchFamily="34" charset="-122"/>
                <a:cs typeface="Calibri" pitchFamily="34" charset="-120"/>
              </a:rPr>
              <a:t>Contraste différent</a:t>
            </a:r>
            <a:endParaRPr lang="en-US" sz="1400" dirty="0"/>
          </a:p>
          <a:p>
            <a:pPr indent="0" marL="0">
              <a:spcAft>
                <a:spcPts val="500"/>
              </a:spcAft>
              <a:buNone/>
            </a:pPr>
            <a:r>
              <a:rPr lang="en-US" sz="1250" dirty="0">
                <a:solidFill>
                  <a:srgbClr val="4A5566"/>
                </a:solidFill>
                <a:latin typeface="Calibri" pitchFamily="34" charset="0"/>
                <a:ea typeface="Calibri" pitchFamily="34" charset="-122"/>
                <a:cs typeface="Calibri" pitchFamily="34" charset="-120"/>
              </a:rPr>
              <a:t>R031, R038, R008 : répartition des intensités très différente → probablement un autre protocole T1.</a:t>
            </a:r>
            <a:endParaRPr lang="en-US" sz="1400" dirty="0"/>
          </a:p>
        </p:txBody>
      </p:sp>
      <p:sp>
        <p:nvSpPr>
          <p:cNvPr id="11" name="Shape 8"/>
          <p:cNvSpPr/>
          <p:nvPr/>
        </p:nvSpPr>
        <p:spPr>
          <a:xfrm>
            <a:off x="8097317" y="4983480"/>
            <a:ext cx="3545738" cy="1188720"/>
          </a:xfrm>
          <a:prstGeom prst="roundRect">
            <a:avLst>
              <a:gd name="adj" fmla="val 6154"/>
            </a:avLst>
          </a:prstGeom>
          <a:solidFill>
            <a:srgbClr val="F2F4F7"/>
          </a:solidFill>
          <a:ln w="12700">
            <a:solidFill>
              <a:srgbClr val="F2F4F7"/>
            </a:solidFill>
            <a:prstDash val="solid"/>
          </a:ln>
        </p:spPr>
      </p:sp>
      <p:sp>
        <p:nvSpPr>
          <p:cNvPr id="12" name="Text 9"/>
          <p:cNvSpPr txBox="1"/>
          <p:nvPr/>
        </p:nvSpPr>
        <p:spPr>
          <a:xfrm>
            <a:off x="8280197" y="5111496"/>
            <a:ext cx="3179978" cy="932688"/>
          </a:xfrm>
          <a:prstGeom prst="rect">
            <a:avLst/>
          </a:prstGeom>
          <a:noFill/>
          <a:ln/>
        </p:spPr>
        <p:txBody>
          <a:bodyPr wrap="square" lIns="0" tIns="0" rIns="0" bIns="0" rtlCol="0" anchor="t"/>
          <a:lstStyle/>
          <a:p>
            <a:pPr indent="0" marL="0">
              <a:spcAft>
                <a:spcPts val="500"/>
              </a:spcAft>
              <a:buNone/>
            </a:pPr>
            <a:r>
              <a:rPr lang="en-US" sz="1400" b="1" dirty="0">
                <a:solidFill>
                  <a:srgbClr val="1A2230"/>
                </a:solidFill>
                <a:latin typeface="Calibri" pitchFamily="34" charset="0"/>
                <a:ea typeface="Calibri" pitchFamily="34" charset="-122"/>
                <a:cs typeface="Calibri" pitchFamily="34" charset="-120"/>
              </a:rPr>
              <a:t>Peu de niveaux de gris</a:t>
            </a:r>
            <a:endParaRPr lang="en-US" sz="1400" dirty="0"/>
          </a:p>
          <a:p>
            <a:pPr indent="0" marL="0">
              <a:spcAft>
                <a:spcPts val="500"/>
              </a:spcAft>
              <a:buNone/>
            </a:pPr>
            <a:r>
              <a:rPr lang="en-US" sz="1250" dirty="0">
                <a:solidFill>
                  <a:srgbClr val="4A5566"/>
                </a:solidFill>
                <a:latin typeface="Calibri" pitchFamily="34" charset="0"/>
                <a:ea typeface="Calibri" pitchFamily="34" charset="-122"/>
                <a:cs typeface="Calibri" pitchFamily="34" charset="-120"/>
              </a:rPr>
              <a:t>R029 (~30 valeurs), R032 (~70) : histogramme « en peigne », faible précision d'intensité.</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9768"/>
            <a:ext cx="457200" cy="457200"/>
          </a:xfrm>
          <a:prstGeom prst="ellipse">
            <a:avLst/>
          </a:prstGeom>
          <a:solidFill>
            <a:srgbClr val="EB6834"/>
          </a:solidFill>
          <a:ln w="12700">
            <a:solidFill>
              <a:srgbClr val="EB6834"/>
            </a:solidFill>
            <a:prstDash val="solid"/>
          </a:ln>
        </p:spPr>
      </p:sp>
      <p:sp>
        <p:nvSpPr>
          <p:cNvPr id="3" name="Text 1"/>
          <p:cNvSpPr txBox="1"/>
          <p:nvPr/>
        </p:nvSpPr>
        <p:spPr>
          <a:xfrm>
            <a:off x="548640" y="4297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4" name="Text 2"/>
          <p:cNvSpPr txBox="1"/>
          <p:nvPr/>
        </p:nvSpPr>
        <p:spPr>
          <a:xfrm>
            <a:off x="1188720" y="310896"/>
            <a:ext cx="10454335" cy="694944"/>
          </a:xfrm>
          <a:prstGeom prst="rect">
            <a:avLst/>
          </a:prstGeom>
          <a:noFill/>
          <a:ln/>
        </p:spPr>
        <p:txBody>
          <a:bodyPr wrap="square" lIns="0" tIns="0" rIns="0" bIns="0" rtlCol="0" anchor="ctr"/>
          <a:lstStyle/>
          <a:p>
            <a:pPr indent="0" marL="0">
              <a:buNone/>
            </a:pPr>
            <a:r>
              <a:rPr lang="en-US" sz="3000" b="1" dirty="0">
                <a:solidFill>
                  <a:srgbClr val="1A2230"/>
                </a:solidFill>
                <a:latin typeface="Calibri" pitchFamily="34" charset="0"/>
                <a:ea typeface="Calibri" pitchFamily="34" charset="-122"/>
                <a:cs typeface="Calibri" pitchFamily="34" charset="-120"/>
              </a:rPr>
              <a:t>Le centre laisse une empreinte mesurable dans l'image</a:t>
            </a:r>
            <a:endParaRPr lang="en-US" sz="3000" dirty="0"/>
          </a:p>
        </p:txBody>
      </p:sp>
      <p:graphicFrame>
        <p:nvGraphicFramePr>
          <p:cNvPr id="5" name="Chart 0" descr=""/>
          <p:cNvGraphicFramePr/>
          <p:nvPr/>
        </p:nvGraphicFramePr>
        <p:xfrm>
          <a:off x="548640" y="118872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5532120"/>
            <a:ext cx="6858000" cy="457200"/>
          </a:xfrm>
          <a:prstGeom prst="rect">
            <a:avLst/>
          </a:prstGeom>
          <a:noFill/>
          <a:ln/>
        </p:spPr>
        <p:txBody>
          <a:bodyPr wrap="square" lIns="0" tIns="0" rIns="0" bIns="0" rtlCol="0" anchor="ctr"/>
          <a:lstStyle/>
          <a:p>
            <a:pPr indent="0" marL="0">
              <a:buNone/>
            </a:pPr>
            <a:r>
              <a:rPr lang="en-US" sz="1150" dirty="0">
                <a:solidFill>
                  <a:srgbClr val="7C8595"/>
                </a:solidFill>
                <a:latin typeface="Calibri" pitchFamily="34" charset="0"/>
                <a:ea typeface="Calibri" pitchFamily="34" charset="-122"/>
                <a:cs typeface="Calibri" pitchFamily="34" charset="-120"/>
              </a:rPr>
              <a:t>Forêt aléatoire · validation croisée stratifiée à 5 plis · 1 177 scans de 26 centres (≥ 20 patients)</a:t>
            </a:r>
            <a:endParaRPr lang="en-US" sz="1150" dirty="0"/>
          </a:p>
        </p:txBody>
      </p:sp>
      <p:sp>
        <p:nvSpPr>
          <p:cNvPr id="7" name="Text 4"/>
          <p:cNvSpPr txBox="1"/>
          <p:nvPr/>
        </p:nvSpPr>
        <p:spPr>
          <a:xfrm>
            <a:off x="7863840" y="1280160"/>
            <a:ext cx="3749040" cy="773723"/>
          </a:xfrm>
          <a:prstGeom prst="rect">
            <a:avLst/>
          </a:prstGeom>
          <a:noFill/>
          <a:ln/>
        </p:spPr>
        <p:txBody>
          <a:bodyPr wrap="square" lIns="0" tIns="0" rIns="0" bIns="0" rtlCol="0" anchor="b"/>
          <a:lstStyle/>
          <a:p>
            <a:pPr indent="0" marL="0">
              <a:buNone/>
            </a:pPr>
            <a:r>
              <a:rPr lang="en-US" sz="4400" b="1" dirty="0">
                <a:solidFill>
                  <a:srgbClr val="EB6834"/>
                </a:solidFill>
                <a:latin typeface="Calibri" pitchFamily="34" charset="0"/>
                <a:ea typeface="Calibri" pitchFamily="34" charset="-122"/>
                <a:cs typeface="Calibri" pitchFamily="34" charset="-120"/>
              </a:rPr>
              <a:t>18×</a:t>
            </a:r>
            <a:endParaRPr lang="en-US" sz="4400" dirty="0"/>
          </a:p>
        </p:txBody>
      </p:sp>
      <p:sp>
        <p:nvSpPr>
          <p:cNvPr id="8" name="Text 5"/>
          <p:cNvSpPr txBox="1"/>
          <p:nvPr/>
        </p:nvSpPr>
        <p:spPr>
          <a:xfrm>
            <a:off x="7863840" y="2108747"/>
            <a:ext cx="3749040" cy="822960"/>
          </a:xfrm>
          <a:prstGeom prst="rect">
            <a:avLst/>
          </a:prstGeom>
          <a:noFill/>
          <a:ln/>
        </p:spPr>
        <p:txBody>
          <a:bodyPr wrap="square" lIns="0" tIns="0" rIns="0" bIns="0" rtlCol="0" anchor="t"/>
          <a:lstStyle/>
          <a:p>
            <a:pPr indent="0" marL="0">
              <a:buNone/>
            </a:pPr>
            <a:r>
              <a:rPr lang="en-US" sz="1300" dirty="0">
                <a:solidFill>
                  <a:srgbClr val="4A5566"/>
                </a:solidFill>
                <a:latin typeface="Calibri" pitchFamily="34" charset="0"/>
                <a:ea typeface="Calibri" pitchFamily="34" charset="-122"/>
                <a:cs typeface="Calibri" pitchFamily="34" charset="-120"/>
              </a:rPr>
              <a:t>mieux que le hasard avec la seule forme de l'histogramme d'intensité (68 % contre 3,8 %)</a:t>
            </a:r>
            <a:endParaRPr lang="en-US" sz="1300" dirty="0"/>
          </a:p>
        </p:txBody>
      </p:sp>
      <p:sp>
        <p:nvSpPr>
          <p:cNvPr id="9" name="Text 6"/>
          <p:cNvSpPr txBox="1"/>
          <p:nvPr/>
        </p:nvSpPr>
        <p:spPr>
          <a:xfrm>
            <a:off x="7863840" y="3154680"/>
            <a:ext cx="3749040" cy="27432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4A5566"/>
                </a:solidFill>
                <a:latin typeface="Calibri" pitchFamily="34" charset="0"/>
                <a:ea typeface="Calibri" pitchFamily="34" charset="-122"/>
                <a:cs typeface="Calibri" pitchFamily="34" charset="-120"/>
              </a:rPr>
              <a:t>La mise à l'échelle des intensités ne suffit pas : l'empreinte survit.</a:t>
            </a:r>
            <a:endParaRPr lang="en-US" sz="1400" dirty="0"/>
          </a:p>
          <a:p>
            <a:pPr marL="342900" indent="-342900">
              <a:spcAft>
                <a:spcPts val="1000"/>
              </a:spcAft>
              <a:buSzPct val="100000"/>
              <a:buChar char="•"/>
            </a:pPr>
            <a:r>
              <a:rPr lang="en-US" sz="1400" dirty="0">
                <a:solidFill>
                  <a:srgbClr val="4A5566"/>
                </a:solidFill>
                <a:latin typeface="Calibri" pitchFamily="34" charset="0"/>
                <a:ea typeface="Calibri" pitchFamily="34" charset="-122"/>
                <a:cs typeface="Calibri" pitchFamily="34" charset="-120"/>
              </a:rPr>
              <a:t>La géométrie est encore plus révélatrice (87 %) → rééchantillonner à 1 mm est indispensable.</a:t>
            </a:r>
            <a:endParaRPr lang="en-US" sz="1400" dirty="0"/>
          </a:p>
          <a:p>
            <a:pPr marL="342900" indent="-342900">
              <a:spcAft>
                <a:spcPts val="1000"/>
              </a:spcAft>
              <a:buSzPct val="100000"/>
              <a:buChar char="•"/>
            </a:pPr>
            <a:r>
              <a:rPr lang="en-US" sz="1400" dirty="0">
                <a:solidFill>
                  <a:srgbClr val="4A5566"/>
                </a:solidFill>
                <a:latin typeface="Calibri" pitchFamily="34" charset="0"/>
                <a:ea typeface="Calibri" pitchFamily="34" charset="-122"/>
                <a:cs typeface="Calibri" pitchFamily="34" charset="-120"/>
              </a:rPr>
              <a:t>Base pour la section 5.5 : refaire ce test après augmentation ou DANN.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9768"/>
            <a:ext cx="457200" cy="457200"/>
          </a:xfrm>
          <a:prstGeom prst="ellipse">
            <a:avLst/>
          </a:prstGeom>
          <a:solidFill>
            <a:srgbClr val="EB6834"/>
          </a:solidFill>
          <a:ln w="12700">
            <a:solidFill>
              <a:srgbClr val="EB6834"/>
            </a:solidFill>
            <a:prstDash val="solid"/>
          </a:ln>
        </p:spPr>
      </p:sp>
      <p:sp>
        <p:nvSpPr>
          <p:cNvPr id="3" name="Text 1"/>
          <p:cNvSpPr txBox="1"/>
          <p:nvPr/>
        </p:nvSpPr>
        <p:spPr>
          <a:xfrm>
            <a:off x="548640" y="4297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08</a:t>
            </a:r>
            <a:endParaRPr lang="en-US" sz="1400" dirty="0"/>
          </a:p>
        </p:txBody>
      </p:sp>
      <p:sp>
        <p:nvSpPr>
          <p:cNvPr id="4" name="Text 2"/>
          <p:cNvSpPr txBox="1"/>
          <p:nvPr/>
        </p:nvSpPr>
        <p:spPr>
          <a:xfrm>
            <a:off x="1188720" y="310896"/>
            <a:ext cx="10454335" cy="694944"/>
          </a:xfrm>
          <a:prstGeom prst="rect">
            <a:avLst/>
          </a:prstGeom>
          <a:noFill/>
          <a:ln/>
        </p:spPr>
        <p:txBody>
          <a:bodyPr wrap="square" lIns="0" tIns="0" rIns="0" bIns="0" rtlCol="0" anchor="ctr"/>
          <a:lstStyle/>
          <a:p>
            <a:pPr indent="0" marL="0">
              <a:buNone/>
            </a:pPr>
            <a:r>
              <a:rPr lang="en-US" sz="3000" b="1" dirty="0">
                <a:solidFill>
                  <a:srgbClr val="1A2230"/>
                </a:solidFill>
                <a:latin typeface="Calibri" pitchFamily="34" charset="0"/>
                <a:ea typeface="Calibri" pitchFamily="34" charset="-122"/>
                <a:cs typeface="Calibri" pitchFamily="34" charset="-120"/>
              </a:rPr>
              <a:t>Lésions : petites, souvent multiples, très variables</a:t>
            </a:r>
            <a:endParaRPr lang="en-US" sz="3000" dirty="0"/>
          </a:p>
        </p:txBody>
      </p:sp>
      <p:pic>
        <p:nvPicPr>
          <p:cNvPr id="5" name="Image 0" descr="Distribution des volumes lésionnels, volume par stade, et nombre de lésions par scan">    </p:cNvPr>
          <p:cNvPicPr>
            <a:picLocks noChangeAspect="1"/>
          </p:cNvPicPr>
          <p:nvPr/>
        </p:nvPicPr>
        <p:blipFill>
          <a:blip r:embed="rId1"/>
          <a:stretch>
            <a:fillRect/>
          </a:stretch>
        </p:blipFill>
        <p:spPr>
          <a:xfrm>
            <a:off x="548640" y="1097280"/>
            <a:ext cx="11094415" cy="3569108"/>
          </a:xfrm>
          <a:prstGeom prst="rect">
            <a:avLst/>
          </a:prstGeom>
        </p:spPr>
      </p:pic>
      <p:sp>
        <p:nvSpPr>
          <p:cNvPr id="6" name="Text 3"/>
          <p:cNvSpPr txBox="1"/>
          <p:nvPr/>
        </p:nvSpPr>
        <p:spPr>
          <a:xfrm>
            <a:off x="548640" y="4846320"/>
            <a:ext cx="2602154" cy="562708"/>
          </a:xfrm>
          <a:prstGeom prst="rect">
            <a:avLst/>
          </a:prstGeom>
          <a:noFill/>
          <a:ln/>
        </p:spPr>
        <p:txBody>
          <a:bodyPr wrap="square" lIns="0" tIns="0" rIns="0" bIns="0" rtlCol="0" anchor="b"/>
          <a:lstStyle/>
          <a:p>
            <a:pPr indent="0" marL="0">
              <a:buNone/>
            </a:pPr>
            <a:r>
              <a:rPr lang="en-US" sz="3200" b="1" dirty="0">
                <a:solidFill>
                  <a:srgbClr val="EB6834"/>
                </a:solidFill>
                <a:latin typeface="Calibri" pitchFamily="34" charset="0"/>
                <a:ea typeface="Calibri" pitchFamily="34" charset="-122"/>
                <a:cs typeface="Calibri" pitchFamily="34" charset="-120"/>
              </a:rPr>
              <a:t>5,4 mL</a:t>
            </a:r>
            <a:endParaRPr lang="en-US" sz="3200" dirty="0"/>
          </a:p>
        </p:txBody>
      </p:sp>
      <p:sp>
        <p:nvSpPr>
          <p:cNvPr id="7" name="Text 4"/>
          <p:cNvSpPr txBox="1"/>
          <p:nvPr/>
        </p:nvSpPr>
        <p:spPr>
          <a:xfrm>
            <a:off x="548640" y="5463892"/>
            <a:ext cx="2602154" cy="566928"/>
          </a:xfrm>
          <a:prstGeom prst="rect">
            <a:avLst/>
          </a:prstGeom>
          <a:noFill/>
          <a:ln/>
        </p:spPr>
        <p:txBody>
          <a:bodyPr wrap="square" lIns="0" tIns="0" rIns="0" bIns="0" rtlCol="0" anchor="t"/>
          <a:lstStyle/>
          <a:p>
            <a:pPr indent="0" marL="0">
              <a:buNone/>
            </a:pPr>
            <a:r>
              <a:rPr lang="en-US" sz="1300" dirty="0">
                <a:solidFill>
                  <a:srgbClr val="4A5566"/>
                </a:solidFill>
                <a:latin typeface="Calibri" pitchFamily="34" charset="0"/>
                <a:ea typeface="Calibri" pitchFamily="34" charset="-122"/>
                <a:cs typeface="Calibri" pitchFamily="34" charset="-120"/>
              </a:rPr>
              <a:t>volume médian (Q1 1,2 – Q3 34,8 mL ; max 388 mL)</a:t>
            </a:r>
            <a:endParaRPr lang="en-US" sz="1300" dirty="0"/>
          </a:p>
        </p:txBody>
      </p:sp>
      <p:sp>
        <p:nvSpPr>
          <p:cNvPr id="8" name="Text 5"/>
          <p:cNvSpPr txBox="1"/>
          <p:nvPr/>
        </p:nvSpPr>
        <p:spPr>
          <a:xfrm>
            <a:off x="3379394" y="4846320"/>
            <a:ext cx="2602154" cy="562708"/>
          </a:xfrm>
          <a:prstGeom prst="rect">
            <a:avLst/>
          </a:prstGeom>
          <a:noFill/>
          <a:ln/>
        </p:spPr>
        <p:txBody>
          <a:bodyPr wrap="square" lIns="0" tIns="0" rIns="0" bIns="0" rtlCol="0" anchor="b"/>
          <a:lstStyle/>
          <a:p>
            <a:pPr indent="0" marL="0">
              <a:buNone/>
            </a:pPr>
            <a:r>
              <a:rPr lang="en-US" sz="3200" b="1" dirty="0">
                <a:solidFill>
                  <a:srgbClr val="EB6834"/>
                </a:solidFill>
                <a:latin typeface="Calibri" pitchFamily="34" charset="0"/>
                <a:ea typeface="Calibri" pitchFamily="34" charset="-122"/>
                <a:cs typeface="Calibri" pitchFamily="34" charset="-120"/>
              </a:rPr>
              <a:t>48</a:t>
            </a:r>
            <a:endParaRPr lang="en-US" sz="3200" dirty="0"/>
          </a:p>
        </p:txBody>
      </p:sp>
      <p:sp>
        <p:nvSpPr>
          <p:cNvPr id="9" name="Text 6"/>
          <p:cNvSpPr txBox="1"/>
          <p:nvPr/>
        </p:nvSpPr>
        <p:spPr>
          <a:xfrm>
            <a:off x="3379394" y="5463892"/>
            <a:ext cx="2602154" cy="566928"/>
          </a:xfrm>
          <a:prstGeom prst="rect">
            <a:avLst/>
          </a:prstGeom>
          <a:noFill/>
          <a:ln/>
        </p:spPr>
        <p:txBody>
          <a:bodyPr wrap="square" lIns="0" tIns="0" rIns="0" bIns="0" rtlCol="0" anchor="t"/>
          <a:lstStyle/>
          <a:p>
            <a:pPr indent="0" marL="0">
              <a:buNone/>
            </a:pPr>
            <a:r>
              <a:rPr lang="en-US" sz="1300" dirty="0">
                <a:solidFill>
                  <a:srgbClr val="4A5566"/>
                </a:solidFill>
                <a:latin typeface="Calibri" pitchFamily="34" charset="0"/>
                <a:ea typeface="Calibri" pitchFamily="34" charset="-122"/>
                <a:cs typeface="Calibri" pitchFamily="34" charset="-120"/>
              </a:rPr>
              <a:t>lésions &lt; 0,1 mL : le Dice y sera instable</a:t>
            </a:r>
            <a:endParaRPr lang="en-US" sz="1300" dirty="0"/>
          </a:p>
        </p:txBody>
      </p:sp>
      <p:sp>
        <p:nvSpPr>
          <p:cNvPr id="10" name="Text 7"/>
          <p:cNvSpPr txBox="1"/>
          <p:nvPr/>
        </p:nvSpPr>
        <p:spPr>
          <a:xfrm>
            <a:off x="6210148" y="4846320"/>
            <a:ext cx="2602154" cy="562708"/>
          </a:xfrm>
          <a:prstGeom prst="rect">
            <a:avLst/>
          </a:prstGeom>
          <a:noFill/>
          <a:ln/>
        </p:spPr>
        <p:txBody>
          <a:bodyPr wrap="square" lIns="0" tIns="0" rIns="0" bIns="0" rtlCol="0" anchor="b"/>
          <a:lstStyle/>
          <a:p>
            <a:pPr indent="0" marL="0">
              <a:buNone/>
            </a:pPr>
            <a:r>
              <a:rPr lang="en-US" sz="3200" b="1" dirty="0">
                <a:solidFill>
                  <a:srgbClr val="EB6834"/>
                </a:solidFill>
                <a:latin typeface="Calibri" pitchFamily="34" charset="0"/>
                <a:ea typeface="Calibri" pitchFamily="34" charset="-122"/>
                <a:cs typeface="Calibri" pitchFamily="34" charset="-120"/>
              </a:rPr>
              <a:t>63 %</a:t>
            </a:r>
            <a:endParaRPr lang="en-US" sz="3200" dirty="0"/>
          </a:p>
        </p:txBody>
      </p:sp>
      <p:sp>
        <p:nvSpPr>
          <p:cNvPr id="11" name="Text 8"/>
          <p:cNvSpPr txBox="1"/>
          <p:nvPr/>
        </p:nvSpPr>
        <p:spPr>
          <a:xfrm>
            <a:off x="6210148" y="5463892"/>
            <a:ext cx="2602154" cy="566928"/>
          </a:xfrm>
          <a:prstGeom prst="rect">
            <a:avLst/>
          </a:prstGeom>
          <a:noFill/>
          <a:ln/>
        </p:spPr>
        <p:txBody>
          <a:bodyPr wrap="square" lIns="0" tIns="0" rIns="0" bIns="0" rtlCol="0" anchor="t"/>
          <a:lstStyle/>
          <a:p>
            <a:pPr indent="0" marL="0">
              <a:buNone/>
            </a:pPr>
            <a:r>
              <a:rPr lang="en-US" sz="1300" dirty="0">
                <a:solidFill>
                  <a:srgbClr val="4A5566"/>
                </a:solidFill>
                <a:latin typeface="Calibri" pitchFamily="34" charset="0"/>
                <a:ea typeface="Calibri" pitchFamily="34" charset="-122"/>
                <a:cs typeface="Calibri" pitchFamily="34" charset="-120"/>
              </a:rPr>
              <a:t>des scans ont plusieurs lésions (67 en ont ≥ 10)</a:t>
            </a:r>
            <a:endParaRPr lang="en-US" sz="1300" dirty="0"/>
          </a:p>
        </p:txBody>
      </p:sp>
      <p:sp>
        <p:nvSpPr>
          <p:cNvPr id="12" name="Text 9"/>
          <p:cNvSpPr txBox="1"/>
          <p:nvPr/>
        </p:nvSpPr>
        <p:spPr>
          <a:xfrm>
            <a:off x="9040901" y="4846320"/>
            <a:ext cx="2602154" cy="562708"/>
          </a:xfrm>
          <a:prstGeom prst="rect">
            <a:avLst/>
          </a:prstGeom>
          <a:noFill/>
          <a:ln/>
        </p:spPr>
        <p:txBody>
          <a:bodyPr wrap="square" lIns="0" tIns="0" rIns="0" bIns="0" rtlCol="0" anchor="b"/>
          <a:lstStyle/>
          <a:p>
            <a:pPr indent="0" marL="0">
              <a:buNone/>
            </a:pPr>
            <a:r>
              <a:rPr lang="en-US" sz="3200" b="1" dirty="0">
                <a:solidFill>
                  <a:srgbClr val="EB6834"/>
                </a:solidFill>
                <a:latin typeface="Calibri" pitchFamily="34" charset="0"/>
                <a:ea typeface="Calibri" pitchFamily="34" charset="-122"/>
                <a:cs typeface="Calibri" pitchFamily="34" charset="-120"/>
              </a:rPr>
              <a:t>341</a:t>
            </a:r>
            <a:endParaRPr lang="en-US" sz="3200" dirty="0"/>
          </a:p>
        </p:txBody>
      </p:sp>
      <p:sp>
        <p:nvSpPr>
          <p:cNvPr id="13" name="Text 10"/>
          <p:cNvSpPr txBox="1"/>
          <p:nvPr/>
        </p:nvSpPr>
        <p:spPr>
          <a:xfrm>
            <a:off x="9040901" y="5463892"/>
            <a:ext cx="2602154" cy="566928"/>
          </a:xfrm>
          <a:prstGeom prst="rect">
            <a:avLst/>
          </a:prstGeom>
          <a:noFill/>
          <a:ln/>
        </p:spPr>
        <p:txBody>
          <a:bodyPr wrap="square" lIns="0" tIns="0" rIns="0" bIns="0" rtlCol="0" anchor="t"/>
          <a:lstStyle/>
          <a:p>
            <a:pPr indent="0" marL="0">
              <a:buNone/>
            </a:pPr>
            <a:r>
              <a:rPr lang="en-US" sz="1300" dirty="0">
                <a:solidFill>
                  <a:srgbClr val="4A5566"/>
                </a:solidFill>
                <a:latin typeface="Calibri" pitchFamily="34" charset="0"/>
                <a:ea typeface="Calibri" pitchFamily="34" charset="-122"/>
                <a:cs typeface="Calibri" pitchFamily="34" charset="-120"/>
              </a:rPr>
              <a:t>délais post-AVC manquants (23 %) ; 8 centres n'en ont aucun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9768"/>
            <a:ext cx="457200" cy="457200"/>
          </a:xfrm>
          <a:prstGeom prst="ellipse">
            <a:avLst/>
          </a:prstGeom>
          <a:solidFill>
            <a:srgbClr val="EB6834"/>
          </a:solidFill>
          <a:ln w="12700">
            <a:solidFill>
              <a:srgbClr val="EB6834"/>
            </a:solidFill>
            <a:prstDash val="solid"/>
          </a:ln>
        </p:spPr>
      </p:sp>
      <p:sp>
        <p:nvSpPr>
          <p:cNvPr id="3" name="Text 1"/>
          <p:cNvSpPr txBox="1"/>
          <p:nvPr/>
        </p:nvSpPr>
        <p:spPr>
          <a:xfrm>
            <a:off x="548640" y="4297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a:t>
            </a:r>
            <a:endParaRPr lang="en-US" sz="1400" dirty="0"/>
          </a:p>
        </p:txBody>
      </p:sp>
      <p:sp>
        <p:nvSpPr>
          <p:cNvPr id="4" name="Text 2"/>
          <p:cNvSpPr txBox="1"/>
          <p:nvPr/>
        </p:nvSpPr>
        <p:spPr>
          <a:xfrm>
            <a:off x="1188720" y="310896"/>
            <a:ext cx="10454335" cy="694944"/>
          </a:xfrm>
          <a:prstGeom prst="rect">
            <a:avLst/>
          </a:prstGeom>
          <a:noFill/>
          <a:ln/>
        </p:spPr>
        <p:txBody>
          <a:bodyPr wrap="square" lIns="0" tIns="0" rIns="0" bIns="0" rtlCol="0" anchor="ctr"/>
          <a:lstStyle/>
          <a:p>
            <a:pPr indent="0" marL="0">
              <a:buNone/>
            </a:pPr>
            <a:r>
              <a:rPr lang="en-US" sz="3000" b="1" dirty="0">
                <a:solidFill>
                  <a:srgbClr val="1A2230"/>
                </a:solidFill>
                <a:latin typeface="Calibri" pitchFamily="34" charset="0"/>
                <a:ea typeface="Calibri" pitchFamily="34" charset="-122"/>
                <a:cs typeface="Calibri" pitchFamily="34" charset="-120"/>
              </a:rPr>
              <a:t>Contrôle qualité : des problèmes réels détectés</a:t>
            </a:r>
            <a:endParaRPr lang="en-US" sz="3000" dirty="0"/>
          </a:p>
        </p:txBody>
      </p:sp>
      <p:pic>
        <p:nvPicPr>
          <p:cNvPr id="5" name="Image 0" descr="Contrôle qualité : cerveau normal, cerveau R032 étiré par un en-tête erroné, masque naïf de R029">    </p:cNvPr>
          <p:cNvPicPr>
            <a:picLocks noChangeAspect="1"/>
          </p:cNvPicPr>
          <p:nvPr/>
        </p:nvPicPr>
        <p:blipFill>
          <a:blip r:embed="rId1"/>
          <a:stretch>
            <a:fillRect/>
          </a:stretch>
        </p:blipFill>
        <p:spPr>
          <a:xfrm>
            <a:off x="926370" y="1097280"/>
            <a:ext cx="10338955" cy="3429000"/>
          </a:xfrm>
          <a:prstGeom prst="rect">
            <a:avLst/>
          </a:prstGeom>
        </p:spPr>
      </p:pic>
      <p:sp>
        <p:nvSpPr>
          <p:cNvPr id="6" name="Shape 3"/>
          <p:cNvSpPr/>
          <p:nvPr/>
        </p:nvSpPr>
        <p:spPr>
          <a:xfrm>
            <a:off x="548640" y="4663440"/>
            <a:ext cx="3545738" cy="1508760"/>
          </a:xfrm>
          <a:prstGeom prst="roundRect">
            <a:avLst>
              <a:gd name="adj" fmla="val 4848"/>
            </a:avLst>
          </a:prstGeom>
          <a:solidFill>
            <a:srgbClr val="F2F4F7"/>
          </a:solidFill>
          <a:ln w="12700">
            <a:solidFill>
              <a:srgbClr val="F2F4F7"/>
            </a:solidFill>
            <a:prstDash val="solid"/>
          </a:ln>
        </p:spPr>
      </p:sp>
      <p:sp>
        <p:nvSpPr>
          <p:cNvPr id="7" name="Text 4"/>
          <p:cNvSpPr txBox="1"/>
          <p:nvPr/>
        </p:nvSpPr>
        <p:spPr>
          <a:xfrm>
            <a:off x="731520" y="4791456"/>
            <a:ext cx="3179978" cy="1252728"/>
          </a:xfrm>
          <a:prstGeom prst="rect">
            <a:avLst/>
          </a:prstGeom>
          <a:noFill/>
          <a:ln/>
        </p:spPr>
        <p:txBody>
          <a:bodyPr wrap="square" lIns="0" tIns="0" rIns="0" bIns="0" rtlCol="0" anchor="t"/>
          <a:lstStyle/>
          <a:p>
            <a:pPr indent="0" marL="0">
              <a:spcAft>
                <a:spcPts val="500"/>
              </a:spcAft>
              <a:buNone/>
            </a:pPr>
            <a:r>
              <a:rPr lang="en-US" sz="1350" b="1" dirty="0">
                <a:solidFill>
                  <a:srgbClr val="1A2230"/>
                </a:solidFill>
                <a:latin typeface="Calibri" pitchFamily="34" charset="0"/>
                <a:ea typeface="Calibri" pitchFamily="34" charset="-122"/>
                <a:cs typeface="Calibri" pitchFamily="34" charset="-120"/>
              </a:rPr>
              <a:t>Géométrie &amp; intensité</a:t>
            </a:r>
            <a:endParaRPr lang="en-US" sz="1350" dirty="0"/>
          </a:p>
          <a:p>
            <a:pPr indent="0" marL="0">
              <a:spcAft>
                <a:spcPts val="500"/>
              </a:spcAft>
              <a:buNone/>
            </a:pPr>
            <a:r>
              <a:rPr lang="en-US" sz="1150" dirty="0">
                <a:solidFill>
                  <a:srgbClr val="4A5566"/>
                </a:solidFill>
                <a:latin typeface="Calibri" pitchFamily="34" charset="0"/>
                <a:ea typeface="Calibri" pitchFamily="34" charset="-122"/>
                <a:cs typeface="Calibri" pitchFamily="34" charset="-120"/>
              </a:rPr>
              <a:t>R032 (37 scans) : espacement du header incohérent → cerveau de 31 cm et 2,7 L.</a:t>
            </a:r>
            <a:endParaRPr lang="en-US" sz="1350" dirty="0"/>
          </a:p>
          <a:p>
            <a:pPr indent="0" marL="0">
              <a:spcAft>
                <a:spcPts val="500"/>
              </a:spcAft>
              <a:buNone/>
            </a:pPr>
            <a:r>
              <a:rPr lang="en-US" sz="1150" dirty="0">
                <a:solidFill>
                  <a:srgbClr val="4A5566"/>
                </a:solidFill>
                <a:latin typeface="Calibri" pitchFamily="34" charset="0"/>
                <a:ea typeface="Calibri" pitchFamily="34" charset="-122"/>
                <a:cs typeface="Calibri" pitchFamily="34" charset="-120"/>
              </a:rPr>
              <a:t>R029 (10) : fond = 0,0007 au lieu de 0 → le masque « T1 &gt; 0 » prend toute l'image.</a:t>
            </a:r>
            <a:endParaRPr lang="en-US" sz="1350" dirty="0"/>
          </a:p>
        </p:txBody>
      </p:sp>
      <p:sp>
        <p:nvSpPr>
          <p:cNvPr id="8" name="Shape 5"/>
          <p:cNvSpPr/>
          <p:nvPr/>
        </p:nvSpPr>
        <p:spPr>
          <a:xfrm>
            <a:off x="4322978" y="4663440"/>
            <a:ext cx="3545738" cy="1508760"/>
          </a:xfrm>
          <a:prstGeom prst="roundRect">
            <a:avLst>
              <a:gd name="adj" fmla="val 4848"/>
            </a:avLst>
          </a:prstGeom>
          <a:solidFill>
            <a:srgbClr val="F2F4F7"/>
          </a:solidFill>
          <a:ln w="12700">
            <a:solidFill>
              <a:srgbClr val="F2F4F7"/>
            </a:solidFill>
            <a:prstDash val="solid"/>
          </a:ln>
        </p:spPr>
      </p:sp>
      <p:sp>
        <p:nvSpPr>
          <p:cNvPr id="9" name="Text 6"/>
          <p:cNvSpPr txBox="1"/>
          <p:nvPr/>
        </p:nvSpPr>
        <p:spPr>
          <a:xfrm>
            <a:off x="4505858" y="4791456"/>
            <a:ext cx="3179978" cy="1252728"/>
          </a:xfrm>
          <a:prstGeom prst="rect">
            <a:avLst/>
          </a:prstGeom>
          <a:noFill/>
          <a:ln/>
        </p:spPr>
        <p:txBody>
          <a:bodyPr wrap="square" lIns="0" tIns="0" rIns="0" bIns="0" rtlCol="0" anchor="t"/>
          <a:lstStyle/>
          <a:p>
            <a:pPr indent="0" marL="0">
              <a:spcAft>
                <a:spcPts val="500"/>
              </a:spcAft>
              <a:buNone/>
            </a:pPr>
            <a:r>
              <a:rPr lang="en-US" sz="1350" b="1" dirty="0">
                <a:solidFill>
                  <a:srgbClr val="1A2230"/>
                </a:solidFill>
                <a:latin typeface="Calibri" pitchFamily="34" charset="0"/>
                <a:ea typeface="Calibri" pitchFamily="34" charset="-122"/>
                <a:cs typeface="Calibri" pitchFamily="34" charset="-120"/>
              </a:rPr>
              <a:t>Masques &amp; métadonnées</a:t>
            </a:r>
            <a:endParaRPr lang="en-US" sz="1350" dirty="0"/>
          </a:p>
          <a:p>
            <a:pPr indent="0" marL="0">
              <a:spcAft>
                <a:spcPts val="500"/>
              </a:spcAft>
              <a:buNone/>
            </a:pPr>
            <a:r>
              <a:rPr lang="en-US" sz="1150" dirty="0">
                <a:solidFill>
                  <a:srgbClr val="4A5566"/>
                </a:solidFill>
                <a:latin typeface="Calibri" pitchFamily="34" charset="0"/>
                <a:ea typeface="Calibri" pitchFamily="34" charset="-122"/>
                <a:cs typeface="Calibri" pitchFamily="34" charset="-120"/>
              </a:rPr>
              <a:t>5 masques vides (SOOP ×2, R041, R053, R065).</a:t>
            </a:r>
            <a:endParaRPr lang="en-US" sz="1350" dirty="0"/>
          </a:p>
          <a:p>
            <a:pPr indent="0" marL="0">
              <a:spcAft>
                <a:spcPts val="500"/>
              </a:spcAft>
              <a:buNone/>
            </a:pPr>
            <a:r>
              <a:rPr lang="en-US" sz="1150" dirty="0">
                <a:solidFill>
                  <a:srgbClr val="4A5566"/>
                </a:solidFill>
                <a:latin typeface="Calibri" pitchFamily="34" charset="0"/>
                <a:ea typeface="Calibri" pitchFamily="34" charset="-122"/>
                <a:cs typeface="Calibri" pitchFamily="34" charset="-120"/>
              </a:rPr>
              <a:t>2 metadata vides (SOOP) · 2 grilles T1 ≠ masque (R032) · 1 délai de −4 jours.</a:t>
            </a:r>
            <a:endParaRPr lang="en-US" sz="1350" dirty="0"/>
          </a:p>
        </p:txBody>
      </p:sp>
      <p:sp>
        <p:nvSpPr>
          <p:cNvPr id="10" name="Shape 7"/>
          <p:cNvSpPr/>
          <p:nvPr/>
        </p:nvSpPr>
        <p:spPr>
          <a:xfrm>
            <a:off x="8097317" y="4663440"/>
            <a:ext cx="3545738" cy="1508760"/>
          </a:xfrm>
          <a:prstGeom prst="roundRect">
            <a:avLst>
              <a:gd name="adj" fmla="val 4848"/>
            </a:avLst>
          </a:prstGeom>
          <a:solidFill>
            <a:srgbClr val="F2F4F7"/>
          </a:solidFill>
          <a:ln w="12700">
            <a:solidFill>
              <a:srgbClr val="F2F4F7"/>
            </a:solidFill>
            <a:prstDash val="solid"/>
          </a:ln>
        </p:spPr>
      </p:sp>
      <p:sp>
        <p:nvSpPr>
          <p:cNvPr id="11" name="Text 8"/>
          <p:cNvSpPr txBox="1"/>
          <p:nvPr/>
        </p:nvSpPr>
        <p:spPr>
          <a:xfrm>
            <a:off x="8280197" y="4791456"/>
            <a:ext cx="3179978" cy="1252728"/>
          </a:xfrm>
          <a:prstGeom prst="rect">
            <a:avLst/>
          </a:prstGeom>
          <a:noFill/>
          <a:ln/>
        </p:spPr>
        <p:txBody>
          <a:bodyPr wrap="square" lIns="0" tIns="0" rIns="0" bIns="0" rtlCol="0" anchor="t"/>
          <a:lstStyle/>
          <a:p>
            <a:pPr indent="0" marL="0">
              <a:spcAft>
                <a:spcPts val="500"/>
              </a:spcAft>
              <a:buNone/>
            </a:pPr>
            <a:r>
              <a:rPr lang="en-US" sz="1350" b="1" dirty="0">
                <a:solidFill>
                  <a:srgbClr val="1A2230"/>
                </a:solidFill>
                <a:latin typeface="Calibri" pitchFamily="34" charset="0"/>
                <a:ea typeface="Calibri" pitchFamily="34" charset="-122"/>
                <a:cs typeface="Calibri" pitchFamily="34" charset="-120"/>
              </a:rPr>
              <a:t>À retenir pour le pipeline</a:t>
            </a:r>
            <a:endParaRPr lang="en-US" sz="1350" dirty="0"/>
          </a:p>
          <a:p>
            <a:pPr indent="0" marL="0">
              <a:spcAft>
                <a:spcPts val="500"/>
              </a:spcAft>
              <a:buNone/>
            </a:pPr>
            <a:r>
              <a:rPr lang="en-US" sz="1150" dirty="0">
                <a:solidFill>
                  <a:srgbClr val="4A5566"/>
                </a:solidFill>
                <a:latin typeface="Calibri" pitchFamily="34" charset="0"/>
                <a:ea typeface="Calibri" pitchFamily="34" charset="-122"/>
                <a:cs typeface="Calibri" pitchFamily="34" charset="-120"/>
              </a:rPr>
              <a:t>41 masques codent la lésion 0,99999998 → seuiller à &gt; 0,5, jamais « == 1 ».</a:t>
            </a:r>
            <a:endParaRPr lang="en-US" sz="1350" dirty="0"/>
          </a:p>
          <a:p>
            <a:pPr indent="0" marL="0">
              <a:spcAft>
                <a:spcPts val="500"/>
              </a:spcAft>
              <a:buNone/>
            </a:pPr>
            <a:r>
              <a:rPr lang="en-US" sz="1150" dirty="0">
                <a:solidFill>
                  <a:srgbClr val="4A5566"/>
                </a:solidFill>
                <a:latin typeface="Calibri" pitchFamily="34" charset="0"/>
                <a:ea typeface="Calibri" pitchFamily="34" charset="-122"/>
                <a:cs typeface="Calibri" pitchFamily="34" charset="-120"/>
              </a:rPr>
              <a:t>Masque du cerveau = voxels au-dessus de la valeur de fond, pas « &gt; 0 ».</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9768"/>
            <a:ext cx="457200" cy="457200"/>
          </a:xfrm>
          <a:prstGeom prst="ellipse">
            <a:avLst/>
          </a:prstGeom>
          <a:solidFill>
            <a:srgbClr val="EB6834"/>
          </a:solidFill>
          <a:ln w="12700">
            <a:solidFill>
              <a:srgbClr val="EB6834"/>
            </a:solidFill>
            <a:prstDash val="solid"/>
          </a:ln>
        </p:spPr>
      </p:sp>
      <p:sp>
        <p:nvSpPr>
          <p:cNvPr id="3" name="Text 1"/>
          <p:cNvSpPr txBox="1"/>
          <p:nvPr/>
        </p:nvSpPr>
        <p:spPr>
          <a:xfrm>
            <a:off x="548640" y="4297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 name="Text 2"/>
          <p:cNvSpPr txBox="1"/>
          <p:nvPr/>
        </p:nvSpPr>
        <p:spPr>
          <a:xfrm>
            <a:off x="1188720" y="310896"/>
            <a:ext cx="10454335" cy="694944"/>
          </a:xfrm>
          <a:prstGeom prst="rect">
            <a:avLst/>
          </a:prstGeom>
          <a:noFill/>
          <a:ln/>
        </p:spPr>
        <p:txBody>
          <a:bodyPr wrap="square" lIns="0" tIns="0" rIns="0" bIns="0" rtlCol="0" anchor="ctr"/>
          <a:lstStyle/>
          <a:p>
            <a:pPr indent="0" marL="0">
              <a:buNone/>
            </a:pPr>
            <a:r>
              <a:rPr lang="en-US" sz="3000" b="1" dirty="0">
                <a:solidFill>
                  <a:srgbClr val="1A2230"/>
                </a:solidFill>
                <a:latin typeface="Calibri" pitchFamily="34" charset="0"/>
                <a:ea typeface="Calibri" pitchFamily="34" charset="-122"/>
                <a:cs typeface="Calibri" pitchFamily="34" charset="-120"/>
              </a:rPr>
              <a:t>Écarts entre le document du projet et les données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468880"/>
                <a:gridCol w="3108960"/>
                <a:gridCol w="5516575"/>
              </a:tblGrid>
              <a:tr h="4754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Élément</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0F1B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Document du projet</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0F1B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Données réelles</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0F1B2D"/>
                    </a:solidFill>
                  </a:tcPr>
                </a:tc>
              </a:tr>
              <a:tr h="475488">
                <a:tc>
                  <a:txBody>
                    <a:bodyPr/>
                    <a:lstStyle/>
                    <a:p>
                      <a:pPr indent="0" marL="0">
                        <a:buNone/>
                      </a:pPr>
                      <a:r>
                        <a:rPr lang="en-US" sz="1400" b="1" dirty="0">
                          <a:solidFill>
                            <a:srgbClr val="1A2230"/>
                          </a:solidFill>
                          <a:latin typeface="Calibri" pitchFamily="34" charset="0"/>
                          <a:ea typeface="Calibri" pitchFamily="34" charset="-122"/>
                          <a:cs typeface="Calibri" pitchFamily="34" charset="-120"/>
                        </a:rPr>
                        <a:t>Colonne du centre</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400" dirty="0">
                          <a:solidFill>
                            <a:srgbClr val="4A5566"/>
                          </a:solidFill>
                          <a:latin typeface="Calibri" pitchFamily="34" charset="0"/>
                          <a:ea typeface="Calibri" pitchFamily="34" charset="-122"/>
                          <a:cs typeface="Calibri" pitchFamily="34" charset="-120"/>
                        </a:rPr>
                        <a:t>CENTER</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400" dirty="0">
                          <a:solidFill>
                            <a:srgbClr val="4A5566"/>
                          </a:solidFill>
                          <a:latin typeface="Calibri" pitchFamily="34" charset="0"/>
                          <a:ea typeface="Calibri" pitchFamily="34" charset="-122"/>
                          <a:cs typeface="Calibri" pitchFamily="34" charset="-120"/>
                        </a:rPr>
                        <a:t>SITE</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A2230"/>
                          </a:solidFill>
                          <a:latin typeface="Calibri" pitchFamily="34" charset="0"/>
                          <a:ea typeface="Calibri" pitchFamily="34" charset="-122"/>
                          <a:cs typeface="Calibri" pitchFamily="34" charset="-120"/>
                        </a:rPr>
                        <a:t>Format des métadonnées</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2F4F7"/>
                    </a:solidFill>
                  </a:tcPr>
                </a:tc>
                <a:tc>
                  <a:txBody>
                    <a:bodyPr/>
                    <a:lstStyle/>
                    <a:p>
                      <a:pPr indent="0" marL="0">
                        <a:buNone/>
                      </a:pPr>
                      <a:r>
                        <a:rPr lang="en-US" sz="1400" dirty="0">
                          <a:solidFill>
                            <a:srgbClr val="4A5566"/>
                          </a:solidFill>
                          <a:latin typeface="Calibri" pitchFamily="34" charset="0"/>
                          <a:ea typeface="Calibri" pitchFamily="34" charset="-122"/>
                          <a:cs typeface="Calibri" pitchFamily="34" charset="-120"/>
                        </a:rPr>
                        <a:t>JSON</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2F4F7"/>
                    </a:solidFill>
                  </a:tcPr>
                </a:tc>
                <a:tc>
                  <a:txBody>
                    <a:bodyPr/>
                    <a:lstStyle/>
                    <a:p>
                      <a:pPr indent="0" marL="0">
                        <a:buNone/>
                      </a:pPr>
                      <a:r>
                        <a:rPr lang="en-US" sz="1400" dirty="0">
                          <a:solidFill>
                            <a:srgbClr val="4A5566"/>
                          </a:solidFill>
                          <a:latin typeface="Calibri" pitchFamily="34" charset="0"/>
                          <a:ea typeface="Calibri" pitchFamily="34" charset="-122"/>
                          <a:cs typeface="Calibri" pitchFamily="34" charset="-120"/>
                        </a:rPr>
                        <a:t>CSV, un fichier par patient</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2F4F7"/>
                    </a:solidFill>
                  </a:tcPr>
                </a:tc>
              </a:tr>
              <a:tr h="475488">
                <a:tc>
                  <a:txBody>
                    <a:bodyPr/>
                    <a:lstStyle/>
                    <a:p>
                      <a:pPr indent="0" marL="0">
                        <a:buNone/>
                      </a:pPr>
                      <a:r>
                        <a:rPr lang="en-US" sz="1400" b="1" dirty="0">
                          <a:solidFill>
                            <a:srgbClr val="1A2230"/>
                          </a:solidFill>
                          <a:latin typeface="Calibri" pitchFamily="34" charset="0"/>
                          <a:ea typeface="Calibri" pitchFamily="34" charset="-122"/>
                          <a:cs typeface="Calibri" pitchFamily="34" charset="-120"/>
                        </a:rPr>
                        <a:t>CHRONICITY</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400" dirty="0">
                          <a:solidFill>
                            <a:srgbClr val="4A5566"/>
                          </a:solidFill>
                          <a:latin typeface="Calibri" pitchFamily="34" charset="0"/>
                          <a:ea typeface="Calibri" pitchFamily="34" charset="-122"/>
                          <a:cs typeface="Calibri" pitchFamily="34" charset="-120"/>
                        </a:rPr>
                        <a:t>stade aigu / subaigu / chronique</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400" dirty="0">
                          <a:solidFill>
                            <a:srgbClr val="4A5566"/>
                          </a:solidFill>
                          <a:latin typeface="Calibri" pitchFamily="34" charset="0"/>
                          <a:ea typeface="Calibri" pitchFamily="34" charset="-122"/>
                          <a:cs typeface="Calibri" pitchFamily="34" charset="-120"/>
                        </a:rPr>
                        <a:t>drapeau binaire (1 ou vide) ; tout SOOP = 1 sans délai → à vérifier auprès d'ISLES'26</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A2230"/>
                          </a:solidFill>
                          <a:latin typeface="Calibri" pitchFamily="34" charset="0"/>
                          <a:ea typeface="Calibri" pitchFamily="34" charset="-122"/>
                          <a:cs typeface="Calibri" pitchFamily="34" charset="-120"/>
                        </a:rPr>
                        <a:t>Masques de lésion</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2F4F7"/>
                    </a:solidFill>
                  </a:tcPr>
                </a:tc>
                <a:tc>
                  <a:txBody>
                    <a:bodyPr/>
                    <a:lstStyle/>
                    <a:p>
                      <a:pPr indent="0" marL="0">
                        <a:buNone/>
                      </a:pPr>
                      <a:r>
                        <a:rPr lang="en-US" sz="1400" dirty="0">
                          <a:solidFill>
                            <a:srgbClr val="4A5566"/>
                          </a:solidFill>
                          <a:latin typeface="Calibri" pitchFamily="34" charset="0"/>
                          <a:ea typeface="Calibri" pitchFamily="34" charset="-122"/>
                          <a:cs typeface="Calibri" pitchFamily="34" charset="-120"/>
                        </a:rPr>
                        <a:t>pour tous les sujets</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2F4F7"/>
                    </a:solidFill>
                  </a:tcPr>
                </a:tc>
                <a:tc>
                  <a:txBody>
                    <a:bodyPr/>
                    <a:lstStyle/>
                    <a:p>
                      <a:pPr indent="0" marL="0">
                        <a:buNone/>
                      </a:pPr>
                      <a:r>
                        <a:rPr lang="en-US" sz="1400" dirty="0">
                          <a:solidFill>
                            <a:srgbClr val="4A5566"/>
                          </a:solidFill>
                          <a:latin typeface="Calibri" pitchFamily="34" charset="0"/>
                          <a:ea typeface="Calibri" pitchFamily="34" charset="-122"/>
                          <a:cs typeface="Calibri" pitchFamily="34" charset="-120"/>
                        </a:rPr>
                        <a:t>5 masques vides</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2F4F7"/>
                    </a:solidFill>
                  </a:tcPr>
                </a:tc>
              </a:tr>
              <a:tr h="475488">
                <a:tc>
                  <a:txBody>
                    <a:bodyPr/>
                    <a:lstStyle/>
                    <a:p>
                      <a:pPr indent="0" marL="0">
                        <a:buNone/>
                      </a:pPr>
                      <a:r>
                        <a:rPr lang="en-US" sz="1400" b="1" dirty="0">
                          <a:solidFill>
                            <a:srgbClr val="1A2230"/>
                          </a:solidFill>
                          <a:latin typeface="Calibri" pitchFamily="34" charset="0"/>
                          <a:ea typeface="Calibri" pitchFamily="34" charset="-122"/>
                          <a:cs typeface="Calibri" pitchFamily="34" charset="-120"/>
                        </a:rPr>
                        <a:t>Délai post-AVC</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400" dirty="0">
                          <a:solidFill>
                            <a:srgbClr val="4A5566"/>
                          </a:solidFill>
                          <a:latin typeface="Calibri" pitchFamily="34" charset="0"/>
                          <a:ea typeface="Calibri" pitchFamily="34" charset="-122"/>
                          <a:cs typeface="Calibri" pitchFamily="34" charset="-120"/>
                        </a:rPr>
                        <a:t>disponible</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400" dirty="0">
                          <a:solidFill>
                            <a:srgbClr val="4A5566"/>
                          </a:solidFill>
                          <a:latin typeface="Calibri" pitchFamily="34" charset="0"/>
                          <a:ea typeface="Calibri" pitchFamily="34" charset="-122"/>
                          <a:cs typeface="Calibri" pitchFamily="34" charset="-120"/>
                        </a:rPr>
                        <a:t>manquant pour 341 patients (23 %)</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A2230"/>
                          </a:solidFill>
                          <a:latin typeface="Calibri" pitchFamily="34" charset="0"/>
                          <a:ea typeface="Calibri" pitchFamily="34" charset="-122"/>
                          <a:cs typeface="Calibri" pitchFamily="34" charset="-120"/>
                        </a:rPr>
                        <a:t>Cas ATLAS v2.0</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2F4F7"/>
                    </a:solidFill>
                  </a:tcPr>
                </a:tc>
                <a:tc>
                  <a:txBody>
                    <a:bodyPr/>
                    <a:lstStyle/>
                    <a:p>
                      <a:pPr indent="0" marL="0">
                        <a:buNone/>
                      </a:pPr>
                      <a:r>
                        <a:rPr lang="en-US" sz="1400" dirty="0">
                          <a:solidFill>
                            <a:srgbClr val="4A5566"/>
                          </a:solidFill>
                          <a:latin typeface="Calibri" pitchFamily="34" charset="0"/>
                          <a:ea typeface="Calibri" pitchFamily="34" charset="-122"/>
                          <a:cs typeface="Calibri" pitchFamily="34" charset="-120"/>
                        </a:rPr>
                        <a:t>955</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2F4F7"/>
                    </a:solidFill>
                  </a:tcPr>
                </a:tc>
                <a:tc>
                  <a:txBody>
                    <a:bodyPr/>
                    <a:lstStyle/>
                    <a:p>
                      <a:pPr indent="0" marL="0">
                        <a:buNone/>
                      </a:pPr>
                      <a:r>
                        <a:rPr lang="en-US" sz="1400" dirty="0">
                          <a:solidFill>
                            <a:srgbClr val="4A5566"/>
                          </a:solidFill>
                          <a:latin typeface="Calibri" pitchFamily="34" charset="0"/>
                          <a:ea typeface="Calibri" pitchFamily="34" charset="-122"/>
                          <a:cs typeface="Calibri" pitchFamily="34" charset="-120"/>
                        </a:rPr>
                        <a:t>955 ✓ (+ 498 nouveaux, dont SOOP : 169)</a:t>
                      </a:r>
                      <a:endParaRPr lang="en-US" sz="1400" dirty="0">
                        <a:latin typeface="Calibri" charset="0"/>
                        <a:ea typeface="Calibri" charset="0"/>
                        <a:cs typeface="Calibri" charset="0"/>
                      </a:endParaRPr>
                    </a:p>
                  </a:txBody>
                  <a:tcPr marL="109728" marR="109728" marT="45720" marB="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2F4F7"/>
                    </a:solidFill>
                  </a:tcPr>
                </a:tc>
              </a:tr>
            </a:tbl>
          </a:graphicData>
        </a:graphic>
      </p:graphicFrame>
      <p:sp>
        <p:nvSpPr>
          <p:cNvPr id="6" name="Shape 3"/>
          <p:cNvSpPr/>
          <p:nvPr/>
        </p:nvSpPr>
        <p:spPr>
          <a:xfrm>
            <a:off x="548640" y="5029200"/>
            <a:ext cx="11094415" cy="1051560"/>
          </a:xfrm>
          <a:prstGeom prst="roundRect">
            <a:avLst>
              <a:gd name="adj" fmla="val 6957"/>
            </a:avLst>
          </a:prstGeom>
          <a:solidFill>
            <a:srgbClr val="F2F4F7"/>
          </a:solidFill>
          <a:ln w="12700">
            <a:solidFill>
              <a:srgbClr val="F2F4F7"/>
            </a:solidFill>
            <a:prstDash val="solid"/>
          </a:ln>
        </p:spPr>
      </p:sp>
      <p:sp>
        <p:nvSpPr>
          <p:cNvPr id="7" name="Text 4"/>
          <p:cNvSpPr txBox="1"/>
          <p:nvPr/>
        </p:nvSpPr>
        <p:spPr>
          <a:xfrm>
            <a:off x="731520" y="5157216"/>
            <a:ext cx="10728655" cy="795528"/>
          </a:xfrm>
          <a:prstGeom prst="rect">
            <a:avLst/>
          </a:prstGeom>
          <a:noFill/>
          <a:ln/>
        </p:spPr>
        <p:txBody>
          <a:bodyPr wrap="square" lIns="0" tIns="0" rIns="0" bIns="0" rtlCol="0" anchor="t"/>
          <a:lstStyle/>
          <a:p>
            <a:pPr indent="0" marL="0">
              <a:spcAft>
                <a:spcPts val="500"/>
              </a:spcAft>
              <a:buNone/>
            </a:pPr>
            <a:r>
              <a:rPr lang="en-US" sz="1500" b="1" dirty="0">
                <a:solidFill>
                  <a:srgbClr val="1A2230"/>
                </a:solidFill>
                <a:latin typeface="Calibri" pitchFamily="34" charset="0"/>
                <a:ea typeface="Calibri" pitchFamily="34" charset="-122"/>
                <a:cs typeface="Calibri" pitchFamily="34" charset="-120"/>
              </a:rPr>
              <a:t>Conséquence</a:t>
            </a:r>
            <a:endParaRPr lang="en-US" sz="1500" dirty="0"/>
          </a:p>
          <a:p>
            <a:pPr indent="0" marL="0">
              <a:spcAft>
                <a:spcPts val="500"/>
              </a:spcAft>
              <a:buNone/>
            </a:pPr>
            <a:r>
              <a:rPr lang="en-US" sz="1400" dirty="0">
                <a:solidFill>
                  <a:srgbClr val="4A5566"/>
                </a:solidFill>
                <a:latin typeface="Calibri" pitchFamily="34" charset="0"/>
                <a:ea typeface="Calibri" pitchFamily="34" charset="-122"/>
                <a:cs typeface="Calibri" pitchFamily="34" charset="-120"/>
              </a:rPr>
              <a:t>Le stade sera dérivé de DAYS_POST_STROKE (≤ 7 j aigu, 8–180 j subaigu, &gt; 180 j chronique), avec une catégorie « inconnu » pour les 341 cas sans délai.</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À retenir &amp; prochaines étapes</a:t>
            </a:r>
            <a:endParaRPr lang="en-US" sz="3200" dirty="0"/>
          </a:p>
        </p:txBody>
      </p:sp>
      <p:sp>
        <p:nvSpPr>
          <p:cNvPr id="3" name="Shape 1"/>
          <p:cNvSpPr/>
          <p:nvPr/>
        </p:nvSpPr>
        <p:spPr>
          <a:xfrm>
            <a:off x="548640" y="1508760"/>
            <a:ext cx="502920" cy="502920"/>
          </a:xfrm>
          <a:prstGeom prst="ellipse">
            <a:avLst/>
          </a:prstGeom>
          <a:solidFill>
            <a:srgbClr val="EB6834"/>
          </a:solidFill>
          <a:ln w="12700">
            <a:solidFill>
              <a:srgbClr val="EB6834"/>
            </a:solidFill>
            <a:prstDash val="solid"/>
          </a:ln>
        </p:spPr>
      </p:sp>
      <p:sp>
        <p:nvSpPr>
          <p:cNvPr id="4" name="Text 2"/>
          <p:cNvSpPr txBox="1"/>
          <p:nvPr/>
        </p:nvSpPr>
        <p:spPr>
          <a:xfrm>
            <a:off x="54864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280160" y="1463040"/>
            <a:ext cx="4754880" cy="1234440"/>
          </a:xfrm>
          <a:prstGeom prst="rect">
            <a:avLst/>
          </a:prstGeom>
          <a:noFill/>
          <a:ln/>
        </p:spPr>
        <p:txBody>
          <a:bodyPr wrap="square" lIns="0" tIns="0" rIns="0" bIns="0" rtlCol="0" anchor="t"/>
          <a:lstStyle/>
          <a:p>
            <a:pPr indent="0" marL="0">
              <a:spcAft>
                <a:spcPts val="400"/>
              </a:spcAft>
              <a:buNone/>
            </a:pPr>
            <a:r>
              <a:rPr lang="en-US" sz="1800" b="1" dirty="0">
                <a:solidFill>
                  <a:srgbClr val="FFFFFF"/>
                </a:solidFill>
                <a:latin typeface="Calibri" pitchFamily="34" charset="0"/>
                <a:ea typeface="Calibri" pitchFamily="34" charset="-122"/>
                <a:cs typeface="Calibri" pitchFamily="34" charset="-120"/>
              </a:rPr>
              <a:t>Domain shift confirmé</a:t>
            </a:r>
            <a:endParaRPr lang="en-US" sz="1800" dirty="0"/>
          </a:p>
          <a:p>
            <a:pPr indent="0" marL="0">
              <a:spcAft>
                <a:spcPts val="400"/>
              </a:spcAft>
              <a:buNone/>
            </a:pPr>
            <a:r>
              <a:rPr lang="en-US" sz="1400" dirty="0">
                <a:solidFill>
                  <a:srgbClr val="C9D1DE"/>
                </a:solidFill>
                <a:latin typeface="Calibri" pitchFamily="34" charset="0"/>
                <a:ea typeface="Calibri" pitchFamily="34" charset="-122"/>
                <a:cs typeface="Calibri" pitchFamily="34" charset="-120"/>
              </a:rPr>
              <a:t>Le centre se devine depuis l'image seule : 68–87 % contre 3,8 % au hasard.</a:t>
            </a:r>
            <a:endParaRPr lang="en-US" sz="1800" dirty="0"/>
          </a:p>
        </p:txBody>
      </p:sp>
      <p:sp>
        <p:nvSpPr>
          <p:cNvPr id="6" name="Shape 4"/>
          <p:cNvSpPr/>
          <p:nvPr/>
        </p:nvSpPr>
        <p:spPr>
          <a:xfrm>
            <a:off x="548640" y="2971800"/>
            <a:ext cx="502920" cy="502920"/>
          </a:xfrm>
          <a:prstGeom prst="ellipse">
            <a:avLst/>
          </a:prstGeom>
          <a:solidFill>
            <a:srgbClr val="EB6834"/>
          </a:solidFill>
          <a:ln w="12700">
            <a:solidFill>
              <a:srgbClr val="EB6834"/>
            </a:solidFill>
            <a:prstDash val="solid"/>
          </a:ln>
        </p:spPr>
      </p:sp>
      <p:sp>
        <p:nvSpPr>
          <p:cNvPr id="7" name="Text 5"/>
          <p:cNvSpPr txBox="1"/>
          <p:nvPr/>
        </p:nvSpPr>
        <p:spPr>
          <a:xfrm>
            <a:off x="548640" y="2971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8" name="Text 6"/>
          <p:cNvSpPr txBox="1"/>
          <p:nvPr/>
        </p:nvSpPr>
        <p:spPr>
          <a:xfrm>
            <a:off x="1280160" y="2926080"/>
            <a:ext cx="4754880" cy="1234440"/>
          </a:xfrm>
          <a:prstGeom prst="rect">
            <a:avLst/>
          </a:prstGeom>
          <a:noFill/>
          <a:ln/>
        </p:spPr>
        <p:txBody>
          <a:bodyPr wrap="square" lIns="0" tIns="0" rIns="0" bIns="0" rtlCol="0" anchor="t"/>
          <a:lstStyle/>
          <a:p>
            <a:pPr indent="0" marL="0">
              <a:spcAft>
                <a:spcPts val="400"/>
              </a:spcAft>
              <a:buNone/>
            </a:pPr>
            <a:r>
              <a:rPr lang="en-US" sz="1800" b="1" dirty="0">
                <a:solidFill>
                  <a:srgbClr val="FFFFFF"/>
                </a:solidFill>
                <a:latin typeface="Calibri" pitchFamily="34" charset="0"/>
                <a:ea typeface="Calibri" pitchFamily="34" charset="-122"/>
                <a:cs typeface="Calibri" pitchFamily="34" charset="-120"/>
              </a:rPr>
              <a:t>Données hétérogènes et déséquilibrées</a:t>
            </a:r>
            <a:endParaRPr lang="en-US" sz="1800" dirty="0"/>
          </a:p>
          <a:p>
            <a:pPr indent="0" marL="0">
              <a:spcAft>
                <a:spcPts val="400"/>
              </a:spcAft>
              <a:buNone/>
            </a:pPr>
            <a:r>
              <a:rPr lang="en-US" sz="1400" dirty="0">
                <a:solidFill>
                  <a:srgbClr val="C9D1DE"/>
                </a:solidFill>
                <a:latin typeface="Calibri" pitchFamily="34" charset="0"/>
                <a:ea typeface="Calibri" pitchFamily="34" charset="-122"/>
                <a:cs typeface="Calibri" pitchFamily="34" charset="-120"/>
              </a:rPr>
              <a:t>43 tailles de voxel, 4 orientations ; 26 centres exploitables pour le découpage par centre.</a:t>
            </a:r>
            <a:endParaRPr lang="en-US" sz="1800" dirty="0"/>
          </a:p>
        </p:txBody>
      </p:sp>
      <p:sp>
        <p:nvSpPr>
          <p:cNvPr id="9" name="Shape 7"/>
          <p:cNvSpPr/>
          <p:nvPr/>
        </p:nvSpPr>
        <p:spPr>
          <a:xfrm>
            <a:off x="548640" y="4434840"/>
            <a:ext cx="502920" cy="502920"/>
          </a:xfrm>
          <a:prstGeom prst="ellipse">
            <a:avLst/>
          </a:prstGeom>
          <a:solidFill>
            <a:srgbClr val="EB6834"/>
          </a:solidFill>
          <a:ln w="12700">
            <a:solidFill>
              <a:srgbClr val="EB6834"/>
            </a:solidFill>
            <a:prstDash val="solid"/>
          </a:ln>
        </p:spPr>
      </p:sp>
      <p:sp>
        <p:nvSpPr>
          <p:cNvPr id="10" name="Text 8"/>
          <p:cNvSpPr txBox="1"/>
          <p:nvPr/>
        </p:nvSpPr>
        <p:spPr>
          <a:xfrm>
            <a:off x="548640" y="44348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1" name="Text 9"/>
          <p:cNvSpPr txBox="1"/>
          <p:nvPr/>
        </p:nvSpPr>
        <p:spPr>
          <a:xfrm>
            <a:off x="1280160" y="4389120"/>
            <a:ext cx="4754880" cy="1234440"/>
          </a:xfrm>
          <a:prstGeom prst="rect">
            <a:avLst/>
          </a:prstGeom>
          <a:noFill/>
          <a:ln/>
        </p:spPr>
        <p:txBody>
          <a:bodyPr wrap="square" lIns="0" tIns="0" rIns="0" bIns="0" rtlCol="0" anchor="t"/>
          <a:lstStyle/>
          <a:p>
            <a:pPr indent="0" marL="0">
              <a:spcAft>
                <a:spcPts val="400"/>
              </a:spcAft>
              <a:buNone/>
            </a:pPr>
            <a:r>
              <a:rPr lang="en-US" sz="1800" b="1" dirty="0">
                <a:solidFill>
                  <a:srgbClr val="FFFFFF"/>
                </a:solidFill>
                <a:latin typeface="Calibri" pitchFamily="34" charset="0"/>
                <a:ea typeface="Calibri" pitchFamily="34" charset="-122"/>
                <a:cs typeface="Calibri" pitchFamily="34" charset="-120"/>
              </a:rPr>
              <a:t>Contrôle qualité indispensable</a:t>
            </a:r>
            <a:endParaRPr lang="en-US" sz="1800" dirty="0"/>
          </a:p>
          <a:p>
            <a:pPr indent="0" marL="0">
              <a:spcAft>
                <a:spcPts val="400"/>
              </a:spcAft>
              <a:buNone/>
            </a:pPr>
            <a:r>
              <a:rPr lang="en-US" sz="1400" dirty="0">
                <a:solidFill>
                  <a:srgbClr val="C9D1DE"/>
                </a:solidFill>
                <a:latin typeface="Calibri" pitchFamily="34" charset="0"/>
                <a:ea typeface="Calibri" pitchFamily="34" charset="-122"/>
                <a:cs typeface="Calibri" pitchFamily="34" charset="-120"/>
              </a:rPr>
              <a:t>R032, R029, masques vides : à corriger ou exclure avant l'entraînement.</a:t>
            </a:r>
            <a:endParaRPr lang="en-US" sz="1800" dirty="0"/>
          </a:p>
        </p:txBody>
      </p:sp>
      <p:sp>
        <p:nvSpPr>
          <p:cNvPr id="12" name="Shape 10"/>
          <p:cNvSpPr/>
          <p:nvPr/>
        </p:nvSpPr>
        <p:spPr>
          <a:xfrm>
            <a:off x="6492240" y="1417320"/>
            <a:ext cx="5148072" cy="3749040"/>
          </a:xfrm>
          <a:prstGeom prst="roundRect">
            <a:avLst>
              <a:gd name="adj" fmla="val 2439"/>
            </a:avLst>
          </a:prstGeom>
          <a:solidFill>
            <a:srgbClr val="1B2A42"/>
          </a:solidFill>
          <a:ln w="12700">
            <a:solidFill>
              <a:srgbClr val="1B2A42"/>
            </a:solidFill>
            <a:prstDash val="solid"/>
          </a:ln>
        </p:spPr>
      </p:sp>
      <p:sp>
        <p:nvSpPr>
          <p:cNvPr id="13" name="Text 11"/>
          <p:cNvSpPr txBox="1"/>
          <p:nvPr/>
        </p:nvSpPr>
        <p:spPr>
          <a:xfrm>
            <a:off x="6766560" y="1645920"/>
            <a:ext cx="4663440" cy="457200"/>
          </a:xfrm>
          <a:prstGeom prst="rect">
            <a:avLst/>
          </a:prstGeom>
          <a:noFill/>
          <a:ln/>
        </p:spPr>
        <p:txBody>
          <a:bodyPr wrap="square" lIns="0" tIns="0" rIns="0" bIns="0" rtlCol="0" anchor="ctr"/>
          <a:lstStyle/>
          <a:p>
            <a:pPr indent="0" marL="0">
              <a:buNone/>
            </a:pPr>
            <a:r>
              <a:rPr lang="en-US" sz="1700" b="1" dirty="0">
                <a:solidFill>
                  <a:srgbClr val="EB6834"/>
                </a:solidFill>
                <a:latin typeface="Calibri" pitchFamily="34" charset="0"/>
                <a:ea typeface="Calibri" pitchFamily="34" charset="-122"/>
                <a:cs typeface="Calibri" pitchFamily="34" charset="-120"/>
              </a:rPr>
              <a:t>Prochaines étapes — pipeline Spark (sem. 2–4)</a:t>
            </a:r>
            <a:endParaRPr lang="en-US" sz="1700" dirty="0"/>
          </a:p>
        </p:txBody>
      </p:sp>
      <p:sp>
        <p:nvSpPr>
          <p:cNvPr id="14" name="Text 12"/>
          <p:cNvSpPr txBox="1"/>
          <p:nvPr/>
        </p:nvSpPr>
        <p:spPr>
          <a:xfrm>
            <a:off x="6766560" y="2240280"/>
            <a:ext cx="4663440" cy="3474720"/>
          </a:xfrm>
          <a:prstGeom prst="rect">
            <a:avLst/>
          </a:prstGeom>
          <a:noFill/>
          <a:ln/>
        </p:spPr>
        <p:txBody>
          <a:bodyPr wrap="square" lIns="0" tIns="0" rIns="0" bIns="0" rtlCol="0" anchor="t"/>
          <a:lstStyle/>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Réorientation RAS, rééchantillonnage 1 mm, masque du cerveau robuste, z-score, recadrage</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Corriger ou exclure R032 ; seuiller les masques à &gt; 0,5</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Découpage leave-centers-out : grands centres seuls, petits centres regroupés, SOOP comme centre de test</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Porter les mesures sur PySpark + benchmark 1 / 2 / 4 / 8 cœurs</a:t>
            </a:r>
            <a:endParaRPr lang="en-US" sz="1450" dirty="0"/>
          </a:p>
        </p:txBody>
      </p:sp>
      <p:sp>
        <p:nvSpPr>
          <p:cNvPr id="15" name="Text 13"/>
          <p:cNvSpPr txBox="1"/>
          <p:nvPr/>
        </p:nvSpPr>
        <p:spPr>
          <a:xfrm>
            <a:off x="548640" y="5989320"/>
            <a:ext cx="5486400" cy="457200"/>
          </a:xfrm>
          <a:prstGeom prst="rect">
            <a:avLst/>
          </a:prstGeom>
          <a:noFill/>
          <a:ln/>
        </p:spPr>
        <p:txBody>
          <a:bodyPr wrap="square" lIns="0" tIns="0" rIns="0" bIns="0" rtlCol="0" anchor="ctr"/>
          <a:lstStyle/>
          <a:p>
            <a:pPr indent="0" marL="0">
              <a:buNone/>
            </a:pPr>
            <a:r>
              <a:rPr lang="en-US" sz="1600" dirty="0">
                <a:solidFill>
                  <a:srgbClr val="7C8595"/>
                </a:solidFill>
                <a:latin typeface="Calibri" pitchFamily="34" charset="0"/>
                <a:ea typeface="Calibri" pitchFamily="34" charset="-122"/>
                <a:cs typeface="Calibri" pitchFamily="34" charset="-120"/>
              </a:rPr>
              <a:t>Merci — questions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Exploration du jeu de données ISLES'26 / ATLAS v3</dc:title>
  <dc:subject>PptxGenJS Presentation</dc:subject>
  <dc:creator>PptxGenJS</dc:creator>
  <cp:lastModifiedBy>PptxGenJS</cp:lastModifiedBy>
  <cp:revision>1</cp:revision>
  <dcterms:created xsi:type="dcterms:W3CDTF">2026-09-29T15:48:05Z</dcterms:created>
  <dcterms:modified xsi:type="dcterms:W3CDTF">2026-09-29T15:48:05Z</dcterms:modified>
</cp:coreProperties>
</file>